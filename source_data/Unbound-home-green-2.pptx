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Hero: full-bleed night-flight photo. Header shows language (EN), help, log in and sign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the problem, the one-case idea and the four steps of using Unbound.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Interactive on the website: country → purpose → passport → pathway result → details → sign-up.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What’s new and trust signals. Swap in real testimonials once Unbound has users.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call to action and footer.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slideLayout" Target="../slideLayouts/slideLayout1.xml"/><Relationship Id="rId11"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slideLayout" Target="../slideLayouts/slideLayout1.xml"/><Relationship Id="rId1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image" Target="../media/image-3-11.png"/><Relationship Id="rId12" Type="http://schemas.openxmlformats.org/officeDocument/2006/relationships/image" Target="../media/image-3-12.png"/><Relationship Id="rId13" Type="http://schemas.openxmlformats.org/officeDocument/2006/relationships/slideLayout" Target="../slideLayouts/slideLayout1.xml"/><Relationship Id="rId1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slideLayout" Target="../slideLayouts/slideLayout1.xml"/><Relationship Id="rId1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slideLayout" Target="../slideLayouts/slideLayout1.xml"/><Relationship Id="rId10"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3100A"/>
        </a:solidFill>
      </p:bgPr>
    </p:bg>
    <p:spTree>
      <p:nvGrpSpPr>
        <p:cNvPr id="1" name=""/>
        <p:cNvGrpSpPr/>
        <p:nvPr/>
      </p:nvGrpSpPr>
      <p:grpSpPr>
        <a:xfrm>
          <a:off x="0" y="0"/>
          <a:ext cx="0" cy="0"/>
          <a:chOff x="0" y="0"/>
          <a:chExt cx="0" cy="0"/>
        </a:xfrm>
      </p:grpSpPr>
      <p:pic>
        <p:nvPicPr>
          <p:cNvPr id="2" name="Image 0" descr="Aircraft wing under the Milky Way at night, city lights below">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0" y="0"/>
            <a:ext cx="9144000" cy="5143500"/>
          </a:xfrm>
          <a:prstGeom prst="rect">
            <a:avLst/>
          </a:prstGeom>
        </p:spPr>
      </p:pic>
      <p:pic>
        <p:nvPicPr>
          <p:cNvPr id="4" name="Image 2" descr="Unbound logo">    </p:cNvPr>
          <p:cNvPicPr>
            <a:picLocks noChangeAspect="1"/>
          </p:cNvPicPr>
          <p:nvPr/>
        </p:nvPicPr>
        <p:blipFill>
          <a:blip r:embed="rId3"/>
          <a:stretch>
            <a:fillRect/>
          </a:stretch>
        </p:blipFill>
        <p:spPr>
          <a:xfrm>
            <a:off x="457200" y="237744"/>
            <a:ext cx="329184" cy="329184"/>
          </a:xfrm>
          <a:prstGeom prst="rect">
            <a:avLst/>
          </a:prstGeom>
        </p:spPr>
      </p:pic>
      <p:sp>
        <p:nvSpPr>
          <p:cNvPr id="5" name="Text 0"/>
          <p:cNvSpPr txBox="1"/>
          <p:nvPr/>
        </p:nvSpPr>
        <p:spPr>
          <a:xfrm>
            <a:off x="859536" y="246888"/>
            <a:ext cx="1280160" cy="310896"/>
          </a:xfrm>
          <a:prstGeom prst="rect">
            <a:avLst/>
          </a:prstGeom>
          <a:noFill/>
          <a:ln/>
        </p:spPr>
        <p:txBody>
          <a:bodyPr wrap="square" lIns="0" tIns="0" rIns="0" bIns="0" rtlCol="0" anchor="ctr"/>
          <a:lstStyle/>
          <a:p>
            <a:pPr indent="0" marL="0">
              <a:buNone/>
            </a:pPr>
            <a:r>
              <a:rPr lang="en-US" sz="1500" b="1" dirty="0">
                <a:solidFill>
                  <a:srgbClr val="FFFFFF"/>
                </a:solidFill>
                <a:latin typeface="Unbounded" pitchFamily="34" charset="0"/>
                <a:ea typeface="Unbounded" pitchFamily="34" charset="-122"/>
                <a:cs typeface="Unbounded" pitchFamily="34" charset="-120"/>
              </a:rPr>
              <a:t>unbound</a:t>
            </a:r>
            <a:endParaRPr lang="en-US" sz="1500" dirty="0"/>
          </a:p>
        </p:txBody>
      </p:sp>
      <p:sp>
        <p:nvSpPr>
          <p:cNvPr id="6" name="Text 1"/>
          <p:cNvSpPr txBox="1"/>
          <p:nvPr/>
        </p:nvSpPr>
        <p:spPr>
          <a:xfrm>
            <a:off x="4709160" y="265176"/>
            <a:ext cx="960120" cy="274320"/>
          </a:xfrm>
          <a:prstGeom prst="rect">
            <a:avLst/>
          </a:prstGeom>
          <a:noFill/>
          <a:ln/>
        </p:spPr>
        <p:txBody>
          <a:bodyPr wrap="square" lIns="0" tIns="0" rIns="0" bIns="0" rtlCol="0" anchor="ctr"/>
          <a:lstStyle/>
          <a:p>
            <a:pPr algn="r" indent="0" marL="0">
              <a:buNone/>
            </a:pPr>
            <a:r>
              <a:rPr lang="en-US" sz="950" b="1" dirty="0">
                <a:solidFill>
                  <a:srgbClr val="FFFFFF"/>
                </a:solidFill>
                <a:latin typeface="Onest" pitchFamily="34" charset="0"/>
                <a:ea typeface="Onest" pitchFamily="34" charset="-122"/>
                <a:cs typeface="Onest" pitchFamily="34" charset="-120"/>
              </a:rPr>
              <a:t>For employers</a:t>
            </a:r>
            <a:endParaRPr lang="en-US" sz="950" dirty="0"/>
          </a:p>
        </p:txBody>
      </p:sp>
      <p:sp>
        <p:nvSpPr>
          <p:cNvPr id="7" name="Shape 2"/>
          <p:cNvSpPr/>
          <p:nvPr/>
        </p:nvSpPr>
        <p:spPr>
          <a:xfrm>
            <a:off x="5806440" y="246888"/>
            <a:ext cx="658368" cy="310896"/>
          </a:xfrm>
          <a:prstGeom prst="roundRect">
            <a:avLst>
              <a:gd name="adj" fmla="val 50000"/>
            </a:avLst>
          </a:prstGeom>
          <a:solidFill>
            <a:srgbClr val="03100A">
              <a:alpha val="40000"/>
            </a:srgbClr>
          </a:solidFill>
          <a:ln w="9525">
            <a:solidFill>
              <a:srgbClr val="FFFFFF">
                <a:alpha val="45000"/>
              </a:srgbClr>
            </a:solidFill>
            <a:prstDash val="solid"/>
          </a:ln>
        </p:spPr>
      </p:sp>
      <p:pic>
        <p:nvPicPr>
          <p:cNvPr id="8" name="Image 3" descr="preencoded.png">    </p:cNvPr>
          <p:cNvPicPr>
            <a:picLocks noChangeAspect="1"/>
          </p:cNvPicPr>
          <p:nvPr/>
        </p:nvPicPr>
        <p:blipFill>
          <a:blip r:embed="rId4"/>
          <a:stretch>
            <a:fillRect/>
          </a:stretch>
        </p:blipFill>
        <p:spPr>
          <a:xfrm>
            <a:off x="5907024" y="333756"/>
            <a:ext cx="192024" cy="128016"/>
          </a:xfrm>
          <a:prstGeom prst="rect">
            <a:avLst/>
          </a:prstGeom>
        </p:spPr>
      </p:pic>
      <p:sp>
        <p:nvSpPr>
          <p:cNvPr id="9" name="Text 3"/>
          <p:cNvSpPr txBox="1"/>
          <p:nvPr/>
        </p:nvSpPr>
        <p:spPr>
          <a:xfrm>
            <a:off x="6135624" y="265176"/>
            <a:ext cx="274320" cy="274320"/>
          </a:xfrm>
          <a:prstGeom prst="rect">
            <a:avLst/>
          </a:prstGeom>
          <a:noFill/>
          <a:ln/>
        </p:spPr>
        <p:txBody>
          <a:bodyPr wrap="square" lIns="0" tIns="0" rIns="0" bIns="0" rtlCol="0" anchor="ctr"/>
          <a:lstStyle/>
          <a:p>
            <a:pPr indent="0" marL="0">
              <a:buNone/>
            </a:pPr>
            <a:r>
              <a:rPr lang="en-US" sz="950" b="1" dirty="0">
                <a:solidFill>
                  <a:srgbClr val="FFFFFF"/>
                </a:solidFill>
                <a:latin typeface="Onest" pitchFamily="34" charset="0"/>
                <a:ea typeface="Onest" pitchFamily="34" charset="-122"/>
                <a:cs typeface="Onest" pitchFamily="34" charset="-120"/>
              </a:rPr>
              <a:t>EN</a:t>
            </a:r>
            <a:endParaRPr lang="en-US" sz="950" dirty="0"/>
          </a:p>
        </p:txBody>
      </p:sp>
      <p:sp>
        <p:nvSpPr>
          <p:cNvPr id="10" name="Shape 4"/>
          <p:cNvSpPr/>
          <p:nvPr/>
        </p:nvSpPr>
        <p:spPr>
          <a:xfrm>
            <a:off x="6537960" y="246888"/>
            <a:ext cx="310896" cy="310896"/>
          </a:xfrm>
          <a:prstGeom prst="ellipse">
            <a:avLst/>
          </a:prstGeom>
          <a:solidFill>
            <a:srgbClr val="03100A">
              <a:alpha val="40000"/>
            </a:srgbClr>
          </a:solidFill>
          <a:ln w="9525">
            <a:solidFill>
              <a:srgbClr val="FFFFFF">
                <a:alpha val="45000"/>
              </a:srgbClr>
            </a:solidFill>
            <a:prstDash val="solid"/>
          </a:ln>
        </p:spPr>
      </p:sp>
      <p:pic>
        <p:nvPicPr>
          <p:cNvPr id="11" name="Image 4" descr="Help">    </p:cNvPr>
          <p:cNvPicPr>
            <a:picLocks noChangeAspect="1"/>
          </p:cNvPicPr>
          <p:nvPr/>
        </p:nvPicPr>
        <p:blipFill>
          <a:blip r:embed="rId5"/>
          <a:stretch>
            <a:fillRect/>
          </a:stretch>
        </p:blipFill>
        <p:spPr>
          <a:xfrm>
            <a:off x="6601968" y="310896"/>
            <a:ext cx="182880" cy="182880"/>
          </a:xfrm>
          <a:prstGeom prst="rect">
            <a:avLst/>
          </a:prstGeom>
        </p:spPr>
      </p:pic>
      <p:pic>
        <p:nvPicPr>
          <p:cNvPr id="12" name="Image 5" descr="preencoded.png">    </p:cNvPr>
          <p:cNvPicPr>
            <a:picLocks noChangeAspect="1"/>
          </p:cNvPicPr>
          <p:nvPr/>
        </p:nvPicPr>
        <p:blipFill>
          <a:blip r:embed="rId6"/>
          <a:stretch>
            <a:fillRect/>
          </a:stretch>
        </p:blipFill>
        <p:spPr>
          <a:xfrm>
            <a:off x="6949440" y="315468"/>
            <a:ext cx="173736" cy="173736"/>
          </a:xfrm>
          <a:prstGeom prst="rect">
            <a:avLst/>
          </a:prstGeom>
        </p:spPr>
      </p:pic>
      <p:sp>
        <p:nvSpPr>
          <p:cNvPr id="13" name="Text 5"/>
          <p:cNvSpPr txBox="1"/>
          <p:nvPr/>
        </p:nvSpPr>
        <p:spPr>
          <a:xfrm>
            <a:off x="7159752" y="265176"/>
            <a:ext cx="502920" cy="274320"/>
          </a:xfrm>
          <a:prstGeom prst="rect">
            <a:avLst/>
          </a:prstGeom>
          <a:noFill/>
          <a:ln/>
        </p:spPr>
        <p:txBody>
          <a:bodyPr wrap="square" lIns="0" tIns="0" rIns="0" bIns="0" rtlCol="0" anchor="ctr"/>
          <a:lstStyle/>
          <a:p>
            <a:pPr indent="0" marL="0">
              <a:buNone/>
            </a:pPr>
            <a:r>
              <a:rPr lang="en-US" sz="950" b="1" dirty="0">
                <a:solidFill>
                  <a:srgbClr val="FFFFFF"/>
                </a:solidFill>
                <a:latin typeface="Onest" pitchFamily="34" charset="0"/>
                <a:ea typeface="Onest" pitchFamily="34" charset="-122"/>
                <a:cs typeface="Onest" pitchFamily="34" charset="-120"/>
              </a:rPr>
              <a:t>Log in</a:t>
            </a:r>
            <a:endParaRPr lang="en-US" sz="950" dirty="0"/>
          </a:p>
        </p:txBody>
      </p:sp>
      <p:sp>
        <p:nvSpPr>
          <p:cNvPr id="14" name="Text 6"/>
          <p:cNvSpPr/>
          <p:nvPr/>
        </p:nvSpPr>
        <p:spPr>
          <a:xfrm>
            <a:off x="7772400" y="237744"/>
            <a:ext cx="914400" cy="329184"/>
          </a:xfrm>
          <a:prstGeom prst="roundRect">
            <a:avLst>
              <a:gd name="adj" fmla="val 50000"/>
            </a:avLst>
          </a:prstGeom>
          <a:solidFill>
            <a:srgbClr val="B84747"/>
          </a:solidFill>
          <a:ln/>
        </p:spPr>
        <p:txBody>
          <a:bodyPr wrap="square" lIns="0" tIns="0" rIns="0" bIns="0" rtlCol="0" anchor="ctr"/>
          <a:lstStyle/>
          <a:p>
            <a:pPr algn="ctr" indent="0" marL="0">
              <a:buNone/>
            </a:pPr>
            <a:r>
              <a:rPr lang="en-US" sz="1000" b="1" dirty="0">
                <a:solidFill>
                  <a:srgbClr val="FFFFFF"/>
                </a:solidFill>
                <a:latin typeface="Onest" pitchFamily="34" charset="0"/>
                <a:ea typeface="Onest" pitchFamily="34" charset="-122"/>
                <a:cs typeface="Onest" pitchFamily="34" charset="-120"/>
              </a:rPr>
              <a:t>Sign up</a:t>
            </a:r>
            <a:endParaRPr lang="en-US" sz="1000" dirty="0"/>
          </a:p>
        </p:txBody>
      </p:sp>
      <p:sp>
        <p:nvSpPr>
          <p:cNvPr id="15" name="Text 7"/>
          <p:cNvSpPr txBox="1"/>
          <p:nvPr/>
        </p:nvSpPr>
        <p:spPr>
          <a:xfrm>
            <a:off x="457200" y="1828800"/>
            <a:ext cx="5486400" cy="228600"/>
          </a:xfrm>
          <a:prstGeom prst="rect">
            <a:avLst/>
          </a:prstGeom>
          <a:noFill/>
          <a:ln/>
        </p:spPr>
        <p:txBody>
          <a:bodyPr wrap="square" lIns="0" tIns="0" rIns="0" bIns="0" rtlCol="0" anchor="t"/>
          <a:lstStyle/>
          <a:p>
            <a:pPr indent="0" marL="0">
              <a:buNone/>
            </a:pPr>
            <a:r>
              <a:rPr lang="en-US" sz="900" b="1" spc="200" kern="0" dirty="0">
                <a:solidFill>
                  <a:srgbClr val="D8A9A9"/>
                </a:solidFill>
                <a:latin typeface="Onest" pitchFamily="34" charset="0"/>
                <a:ea typeface="Onest" pitchFamily="34" charset="-122"/>
                <a:cs typeface="Onest" pitchFamily="34" charset="-120"/>
              </a:rPr>
              <a:t>FOR STUDENTS, EXPATS AND INTERNATIONAL HIRES</a:t>
            </a:r>
            <a:endParaRPr lang="en-US" sz="900" dirty="0"/>
          </a:p>
        </p:txBody>
      </p:sp>
      <p:sp>
        <p:nvSpPr>
          <p:cNvPr id="16" name="Text 8"/>
          <p:cNvSpPr txBox="1"/>
          <p:nvPr/>
        </p:nvSpPr>
        <p:spPr>
          <a:xfrm>
            <a:off x="457200" y="2103120"/>
            <a:ext cx="6035040" cy="1234440"/>
          </a:xfrm>
          <a:prstGeom prst="rect">
            <a:avLst/>
          </a:prstGeom>
          <a:noFill/>
          <a:ln/>
        </p:spPr>
        <p:txBody>
          <a:bodyPr wrap="square" lIns="0" tIns="0" rIns="0" bIns="0" rtlCol="0" anchor="t"/>
          <a:lstStyle/>
          <a:p>
            <a:pPr indent="0" marL="0">
              <a:lnSpc>
                <a:spcPct val="95000"/>
              </a:lnSpc>
              <a:buNone/>
            </a:pPr>
            <a:r>
              <a:rPr lang="en-US" sz="4000" b="1" dirty="0">
                <a:solidFill>
                  <a:srgbClr val="FFFFFF"/>
                </a:solidFill>
                <a:latin typeface="Unbounded" pitchFamily="34" charset="0"/>
                <a:ea typeface="Unbounded" pitchFamily="34" charset="-122"/>
                <a:cs typeface="Unbounded" pitchFamily="34" charset="-120"/>
              </a:rPr>
              <a:t>Move abroad.</a:t>
            </a:r>
            <a:endParaRPr lang="en-US" sz="4000" dirty="0"/>
          </a:p>
          <a:p>
            <a:pPr indent="0" marL="0">
              <a:lnSpc>
                <a:spcPct val="95000"/>
              </a:lnSpc>
              <a:buNone/>
            </a:pPr>
            <a:r>
              <a:rPr lang="en-US" sz="4000" b="1" dirty="0">
                <a:solidFill>
                  <a:srgbClr val="D8A9A9"/>
                </a:solidFill>
                <a:latin typeface="Unbounded" pitchFamily="34" charset="0"/>
                <a:ea typeface="Unbounded" pitchFamily="34" charset="-122"/>
                <a:cs typeface="Unbounded" pitchFamily="34" charset="-120"/>
              </a:rPr>
              <a:t>Stay unbound.</a:t>
            </a:r>
            <a:endParaRPr lang="en-US" sz="4000" dirty="0"/>
          </a:p>
        </p:txBody>
      </p:sp>
      <p:sp>
        <p:nvSpPr>
          <p:cNvPr id="17" name="Text 9"/>
          <p:cNvSpPr txBox="1"/>
          <p:nvPr/>
        </p:nvSpPr>
        <p:spPr>
          <a:xfrm>
            <a:off x="457200" y="3401568"/>
            <a:ext cx="4754880" cy="502920"/>
          </a:xfrm>
          <a:prstGeom prst="rect">
            <a:avLst/>
          </a:prstGeom>
          <a:noFill/>
          <a:ln/>
        </p:spPr>
        <p:txBody>
          <a:bodyPr wrap="square" lIns="0" tIns="0" rIns="0" bIns="0" rtlCol="0" anchor="t"/>
          <a:lstStyle/>
          <a:p>
            <a:pPr indent="0" marL="0">
              <a:buNone/>
            </a:pPr>
            <a:r>
              <a:rPr lang="en-US" sz="1200" dirty="0">
                <a:solidFill>
                  <a:srgbClr val="EEF0E6"/>
                </a:solidFill>
                <a:latin typeface="Onest" pitchFamily="34" charset="0"/>
                <a:ea typeface="Onest" pitchFamily="34" charset="-122"/>
                <a:cs typeface="Onest" pitchFamily="34" charset="-120"/>
              </a:rPr>
              <a:t>One case for your whole immigration journey, from the first application to your next chapter. We tell you exactly what to do next.</a:t>
            </a:r>
            <a:endParaRPr lang="en-US" sz="1200" dirty="0"/>
          </a:p>
        </p:txBody>
      </p:sp>
      <p:sp>
        <p:nvSpPr>
          <p:cNvPr id="18" name="Text 10"/>
          <p:cNvSpPr/>
          <p:nvPr/>
        </p:nvSpPr>
        <p:spPr>
          <a:xfrm>
            <a:off x="457200" y="4005072"/>
            <a:ext cx="1691640" cy="402336"/>
          </a:xfrm>
          <a:prstGeom prst="roundRect">
            <a:avLst>
              <a:gd name="adj" fmla="val 50000"/>
            </a:avLst>
          </a:prstGeom>
          <a:solidFill>
            <a:srgbClr val="B84747"/>
          </a:solidFill>
          <a:ln/>
        </p:spPr>
        <p:txBody>
          <a:bodyPr wrap="square" lIns="0" tIns="0" rIns="0" bIns="0" rtlCol="0" anchor="ctr"/>
          <a:lstStyle/>
          <a:p>
            <a:pPr algn="ctr" indent="0" marL="0">
              <a:buNone/>
            </a:pPr>
            <a:r>
              <a:rPr lang="en-US" sz="1100" b="1" dirty="0">
                <a:solidFill>
                  <a:srgbClr val="FFFFFF"/>
                </a:solidFill>
                <a:latin typeface="Onest" pitchFamily="34" charset="0"/>
                <a:ea typeface="Onest" pitchFamily="34" charset="-122"/>
                <a:cs typeface="Onest" pitchFamily="34" charset="-120"/>
              </a:rPr>
              <a:t>Check my options  →</a:t>
            </a:r>
            <a:endParaRPr lang="en-US" sz="1100" dirty="0"/>
          </a:p>
        </p:txBody>
      </p:sp>
      <p:sp>
        <p:nvSpPr>
          <p:cNvPr id="19" name="Text 11"/>
          <p:cNvSpPr/>
          <p:nvPr/>
        </p:nvSpPr>
        <p:spPr>
          <a:xfrm>
            <a:off x="2258568" y="4005072"/>
            <a:ext cx="1325880" cy="402336"/>
          </a:xfrm>
          <a:prstGeom prst="roundRect">
            <a:avLst>
              <a:gd name="adj" fmla="val 50000"/>
            </a:avLst>
          </a:prstGeom>
          <a:noFill/>
          <a:ln w="15875">
            <a:solidFill>
              <a:srgbClr val="FFFFFF"/>
            </a:solidFill>
          </a:ln>
        </p:spPr>
        <p:txBody>
          <a:bodyPr wrap="square" lIns="0" tIns="0" rIns="0" bIns="0" rtlCol="0" anchor="ctr"/>
          <a:lstStyle/>
          <a:p>
            <a:pPr algn="ctr" indent="0" marL="0">
              <a:buNone/>
            </a:pPr>
            <a:r>
              <a:rPr lang="en-US" sz="1100" b="1" dirty="0">
                <a:solidFill>
                  <a:srgbClr val="FFFFFF"/>
                </a:solidFill>
                <a:latin typeface="Onest" pitchFamily="34" charset="0"/>
                <a:ea typeface="Onest" pitchFamily="34" charset="-122"/>
                <a:cs typeface="Onest" pitchFamily="34" charset="-120"/>
              </a:rPr>
              <a:t>How it works</a:t>
            </a:r>
            <a:endParaRPr lang="en-US" sz="1100" dirty="0"/>
          </a:p>
        </p:txBody>
      </p:sp>
      <p:sp>
        <p:nvSpPr>
          <p:cNvPr id="20" name="Shape 12"/>
          <p:cNvSpPr/>
          <p:nvPr/>
        </p:nvSpPr>
        <p:spPr>
          <a:xfrm>
            <a:off x="457200" y="4572000"/>
            <a:ext cx="8229600" cy="0"/>
          </a:xfrm>
          <a:prstGeom prst="line">
            <a:avLst/>
          </a:prstGeom>
          <a:noFill/>
          <a:ln w="6350">
            <a:solidFill>
              <a:srgbClr val="FFFFFF">
                <a:alpha val="25000"/>
              </a:srgbClr>
            </a:solidFill>
            <a:prstDash val="solid"/>
          </a:ln>
        </p:spPr>
      </p:sp>
      <p:pic>
        <p:nvPicPr>
          <p:cNvPr id="21" name="Image 6" descr="preencoded.png">    </p:cNvPr>
          <p:cNvPicPr>
            <a:picLocks noChangeAspect="1"/>
          </p:cNvPicPr>
          <p:nvPr/>
        </p:nvPicPr>
        <p:blipFill>
          <a:blip r:embed="rId7"/>
          <a:stretch>
            <a:fillRect/>
          </a:stretch>
        </p:blipFill>
        <p:spPr>
          <a:xfrm>
            <a:off x="457200" y="4690872"/>
            <a:ext cx="137160" cy="137160"/>
          </a:xfrm>
          <a:prstGeom prst="rect">
            <a:avLst/>
          </a:prstGeom>
        </p:spPr>
      </p:pic>
      <p:sp>
        <p:nvSpPr>
          <p:cNvPr id="22" name="Text 13"/>
          <p:cNvSpPr txBox="1"/>
          <p:nvPr/>
        </p:nvSpPr>
        <p:spPr>
          <a:xfrm>
            <a:off x="640080" y="4654296"/>
            <a:ext cx="965606" cy="219456"/>
          </a:xfrm>
          <a:prstGeom prst="rect">
            <a:avLst/>
          </a:prstGeom>
          <a:noFill/>
          <a:ln/>
        </p:spPr>
        <p:txBody>
          <a:bodyPr wrap="square" lIns="0" tIns="0" rIns="0" bIns="0" rtlCol="0" anchor="ctr"/>
          <a:lstStyle/>
          <a:p>
            <a:pPr indent="0" marL="0">
              <a:buNone/>
            </a:pPr>
            <a:r>
              <a:rPr lang="en-US" sz="900" dirty="0">
                <a:solidFill>
                  <a:srgbClr val="E2E6D8"/>
                </a:solidFill>
                <a:latin typeface="Onest" pitchFamily="34" charset="0"/>
                <a:ea typeface="Onest" pitchFamily="34" charset="-122"/>
                <a:cs typeface="Onest" pitchFamily="34" charset="-120"/>
              </a:rPr>
              <a:t>Free to start</a:t>
            </a:r>
            <a:endParaRPr lang="en-US" sz="900" dirty="0"/>
          </a:p>
        </p:txBody>
      </p:sp>
      <p:pic>
        <p:nvPicPr>
          <p:cNvPr id="23" name="Image 7" descr="preencoded.png">    </p:cNvPr>
          <p:cNvPicPr>
            <a:picLocks noChangeAspect="1"/>
          </p:cNvPicPr>
          <p:nvPr/>
        </p:nvPicPr>
        <p:blipFill>
          <a:blip r:embed="rId8"/>
          <a:stretch>
            <a:fillRect/>
          </a:stretch>
        </p:blipFill>
        <p:spPr>
          <a:xfrm>
            <a:off x="1742846" y="4690872"/>
            <a:ext cx="137160" cy="137160"/>
          </a:xfrm>
          <a:prstGeom prst="rect">
            <a:avLst/>
          </a:prstGeom>
        </p:spPr>
      </p:pic>
      <p:sp>
        <p:nvSpPr>
          <p:cNvPr id="24" name="Text 14"/>
          <p:cNvSpPr txBox="1"/>
          <p:nvPr/>
        </p:nvSpPr>
        <p:spPr>
          <a:xfrm>
            <a:off x="1925726" y="4654296"/>
            <a:ext cx="1929384" cy="219456"/>
          </a:xfrm>
          <a:prstGeom prst="rect">
            <a:avLst/>
          </a:prstGeom>
          <a:noFill/>
          <a:ln/>
        </p:spPr>
        <p:txBody>
          <a:bodyPr wrap="square" lIns="0" tIns="0" rIns="0" bIns="0" rtlCol="0" anchor="ctr"/>
          <a:lstStyle/>
          <a:p>
            <a:pPr indent="0" marL="0">
              <a:buNone/>
            </a:pPr>
            <a:r>
              <a:rPr lang="en-US" sz="900" dirty="0">
                <a:solidFill>
                  <a:srgbClr val="E2E6D8"/>
                </a:solidFill>
                <a:latin typeface="Onest" pitchFamily="34" charset="0"/>
                <a:ea typeface="Onest" pitchFamily="34" charset="-122"/>
                <a:cs typeface="Onest" pitchFamily="34" charset="-120"/>
              </a:rPr>
              <a:t>Documents encrypted end to end</a:t>
            </a:r>
            <a:endParaRPr lang="en-US" sz="900" dirty="0"/>
          </a:p>
        </p:txBody>
      </p:sp>
      <p:pic>
        <p:nvPicPr>
          <p:cNvPr id="25" name="Image 8" descr="preencoded.png">    </p:cNvPr>
          <p:cNvPicPr>
            <a:picLocks noChangeAspect="1"/>
          </p:cNvPicPr>
          <p:nvPr/>
        </p:nvPicPr>
        <p:blipFill>
          <a:blip r:embed="rId9"/>
          <a:stretch>
            <a:fillRect/>
          </a:stretch>
        </p:blipFill>
        <p:spPr>
          <a:xfrm>
            <a:off x="3992270" y="4690872"/>
            <a:ext cx="137160" cy="137160"/>
          </a:xfrm>
          <a:prstGeom prst="rect">
            <a:avLst/>
          </a:prstGeom>
        </p:spPr>
      </p:pic>
      <p:sp>
        <p:nvSpPr>
          <p:cNvPr id="26" name="Text 15"/>
          <p:cNvSpPr txBox="1"/>
          <p:nvPr/>
        </p:nvSpPr>
        <p:spPr>
          <a:xfrm>
            <a:off x="4175150" y="4654296"/>
            <a:ext cx="2382926" cy="219456"/>
          </a:xfrm>
          <a:prstGeom prst="rect">
            <a:avLst/>
          </a:prstGeom>
          <a:noFill/>
          <a:ln/>
        </p:spPr>
        <p:txBody>
          <a:bodyPr wrap="square" lIns="0" tIns="0" rIns="0" bIns="0" rtlCol="0" anchor="ctr"/>
          <a:lstStyle/>
          <a:p>
            <a:pPr indent="0" marL="0">
              <a:buNone/>
            </a:pPr>
            <a:r>
              <a:rPr lang="en-US" sz="900" dirty="0">
                <a:solidFill>
                  <a:srgbClr val="E2E6D8"/>
                </a:solidFill>
                <a:latin typeface="Onest" pitchFamily="34" charset="0"/>
                <a:ea typeface="Onest" pitchFamily="34" charset="-122"/>
                <a:cs typeface="Onest" pitchFamily="34" charset="-120"/>
              </a:rPr>
              <a:t>Visa fees and proof of funds with Wise</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D8A9A9"/>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15000"/>
          </a:blip>
          <a:stretch>
            <a:fillRect/>
          </a:stretch>
        </p:blipFill>
        <p:spPr>
          <a:xfrm>
            <a:off x="5669280" y="-365760"/>
            <a:ext cx="4572000" cy="4572000"/>
          </a:xfrm>
          <a:prstGeom prst="rect">
            <a:avLst/>
          </a:prstGeom>
        </p:spPr>
      </p:pic>
      <p:pic>
        <p:nvPicPr>
          <p:cNvPr id="3" name="Image 1" descr="Unbound logo">    </p:cNvPr>
          <p:cNvPicPr>
            <a:picLocks noChangeAspect="1"/>
          </p:cNvPicPr>
          <p:nvPr/>
        </p:nvPicPr>
        <p:blipFill>
          <a:blip r:embed="rId2"/>
          <a:stretch>
            <a:fillRect/>
          </a:stretch>
        </p:blipFill>
        <p:spPr>
          <a:xfrm>
            <a:off x="457200" y="237744"/>
            <a:ext cx="329184" cy="329184"/>
          </a:xfrm>
          <a:prstGeom prst="rect">
            <a:avLst/>
          </a:prstGeom>
        </p:spPr>
      </p:pic>
      <p:sp>
        <p:nvSpPr>
          <p:cNvPr id="4" name="Text 0"/>
          <p:cNvSpPr txBox="1"/>
          <p:nvPr/>
        </p:nvSpPr>
        <p:spPr>
          <a:xfrm>
            <a:off x="859536" y="246888"/>
            <a:ext cx="1280160" cy="310896"/>
          </a:xfrm>
          <a:prstGeom prst="rect">
            <a:avLst/>
          </a:prstGeom>
          <a:noFill/>
          <a:ln/>
        </p:spPr>
        <p:txBody>
          <a:bodyPr wrap="square" lIns="0" tIns="0" rIns="0" bIns="0" rtlCol="0" anchor="ctr"/>
          <a:lstStyle/>
          <a:p>
            <a:pPr indent="0" marL="0">
              <a:buNone/>
            </a:pPr>
            <a:r>
              <a:rPr lang="en-US" sz="1500" b="1" dirty="0">
                <a:solidFill>
                  <a:srgbClr val="072011"/>
                </a:solidFill>
                <a:latin typeface="Unbounded" pitchFamily="34" charset="0"/>
                <a:ea typeface="Unbounded" pitchFamily="34" charset="-122"/>
                <a:cs typeface="Unbounded" pitchFamily="34" charset="-120"/>
              </a:rPr>
              <a:t>unbound</a:t>
            </a:r>
            <a:endParaRPr lang="en-US" sz="1500" dirty="0"/>
          </a:p>
        </p:txBody>
      </p:sp>
      <p:sp>
        <p:nvSpPr>
          <p:cNvPr id="5" name="Text 1"/>
          <p:cNvSpPr txBox="1"/>
          <p:nvPr/>
        </p:nvSpPr>
        <p:spPr>
          <a:xfrm>
            <a:off x="4709160" y="265176"/>
            <a:ext cx="960120" cy="274320"/>
          </a:xfrm>
          <a:prstGeom prst="rect">
            <a:avLst/>
          </a:prstGeom>
          <a:noFill/>
          <a:ln/>
        </p:spPr>
        <p:txBody>
          <a:bodyPr wrap="square" lIns="0" tIns="0" rIns="0" bIns="0" rtlCol="0" anchor="ctr"/>
          <a:lstStyle/>
          <a:p>
            <a:pPr algn="r" indent="0" marL="0">
              <a:buNone/>
            </a:pPr>
            <a:r>
              <a:rPr lang="en-US" sz="950" b="1" dirty="0">
                <a:solidFill>
                  <a:srgbClr val="072011"/>
                </a:solidFill>
                <a:latin typeface="Onest" pitchFamily="34" charset="0"/>
                <a:ea typeface="Onest" pitchFamily="34" charset="-122"/>
                <a:cs typeface="Onest" pitchFamily="34" charset="-120"/>
              </a:rPr>
              <a:t>For employers</a:t>
            </a:r>
            <a:endParaRPr lang="en-US" sz="950" dirty="0"/>
          </a:p>
        </p:txBody>
      </p:sp>
      <p:sp>
        <p:nvSpPr>
          <p:cNvPr id="6" name="Shape 2"/>
          <p:cNvSpPr/>
          <p:nvPr/>
        </p:nvSpPr>
        <p:spPr>
          <a:xfrm>
            <a:off x="5806440" y="246888"/>
            <a:ext cx="658368" cy="310896"/>
          </a:xfrm>
          <a:prstGeom prst="roundRect">
            <a:avLst>
              <a:gd name="adj" fmla="val 50000"/>
            </a:avLst>
          </a:prstGeom>
          <a:solidFill>
            <a:srgbClr val="FFFFFF">
              <a:alpha val="60000"/>
            </a:srgbClr>
          </a:solidFill>
          <a:ln w="9525">
            <a:solidFill>
              <a:srgbClr val="072011">
                <a:alpha val="45000"/>
              </a:srgbClr>
            </a:solidFill>
            <a:prstDash val="solid"/>
          </a:ln>
        </p:spPr>
      </p:sp>
      <p:pic>
        <p:nvPicPr>
          <p:cNvPr id="7" name="Image 2" descr="preencoded.png">    </p:cNvPr>
          <p:cNvPicPr>
            <a:picLocks noChangeAspect="1"/>
          </p:cNvPicPr>
          <p:nvPr/>
        </p:nvPicPr>
        <p:blipFill>
          <a:blip r:embed="rId3"/>
          <a:stretch>
            <a:fillRect/>
          </a:stretch>
        </p:blipFill>
        <p:spPr>
          <a:xfrm>
            <a:off x="5907024" y="333756"/>
            <a:ext cx="192024" cy="128016"/>
          </a:xfrm>
          <a:prstGeom prst="rect">
            <a:avLst/>
          </a:prstGeom>
        </p:spPr>
      </p:pic>
      <p:sp>
        <p:nvSpPr>
          <p:cNvPr id="8" name="Text 3"/>
          <p:cNvSpPr txBox="1"/>
          <p:nvPr/>
        </p:nvSpPr>
        <p:spPr>
          <a:xfrm>
            <a:off x="6135624" y="265176"/>
            <a:ext cx="274320" cy="274320"/>
          </a:xfrm>
          <a:prstGeom prst="rect">
            <a:avLst/>
          </a:prstGeom>
          <a:noFill/>
          <a:ln/>
        </p:spPr>
        <p:txBody>
          <a:bodyPr wrap="square" lIns="0" tIns="0" rIns="0" bIns="0" rtlCol="0" anchor="ctr"/>
          <a:lstStyle/>
          <a:p>
            <a:pPr indent="0" marL="0">
              <a:buNone/>
            </a:pPr>
            <a:r>
              <a:rPr lang="en-US" sz="950" b="1" dirty="0">
                <a:solidFill>
                  <a:srgbClr val="072011"/>
                </a:solidFill>
                <a:latin typeface="Onest" pitchFamily="34" charset="0"/>
                <a:ea typeface="Onest" pitchFamily="34" charset="-122"/>
                <a:cs typeface="Onest" pitchFamily="34" charset="-120"/>
              </a:rPr>
              <a:t>EN</a:t>
            </a:r>
            <a:endParaRPr lang="en-US" sz="950" dirty="0"/>
          </a:p>
        </p:txBody>
      </p:sp>
      <p:sp>
        <p:nvSpPr>
          <p:cNvPr id="9" name="Shape 4"/>
          <p:cNvSpPr/>
          <p:nvPr/>
        </p:nvSpPr>
        <p:spPr>
          <a:xfrm>
            <a:off x="6537960" y="246888"/>
            <a:ext cx="310896" cy="310896"/>
          </a:xfrm>
          <a:prstGeom prst="ellipse">
            <a:avLst/>
          </a:prstGeom>
          <a:solidFill>
            <a:srgbClr val="FFFFFF">
              <a:alpha val="60000"/>
            </a:srgbClr>
          </a:solidFill>
          <a:ln w="9525">
            <a:solidFill>
              <a:srgbClr val="072011">
                <a:alpha val="45000"/>
              </a:srgbClr>
            </a:solidFill>
            <a:prstDash val="solid"/>
          </a:ln>
        </p:spPr>
      </p:sp>
      <p:pic>
        <p:nvPicPr>
          <p:cNvPr id="10" name="Image 3" descr="Help">    </p:cNvPr>
          <p:cNvPicPr>
            <a:picLocks noChangeAspect="1"/>
          </p:cNvPicPr>
          <p:nvPr/>
        </p:nvPicPr>
        <p:blipFill>
          <a:blip r:embed="rId4"/>
          <a:stretch>
            <a:fillRect/>
          </a:stretch>
        </p:blipFill>
        <p:spPr>
          <a:xfrm>
            <a:off x="6601968" y="310896"/>
            <a:ext cx="182880" cy="182880"/>
          </a:xfrm>
          <a:prstGeom prst="rect">
            <a:avLst/>
          </a:prstGeom>
        </p:spPr>
      </p:pic>
      <p:pic>
        <p:nvPicPr>
          <p:cNvPr id="11" name="Image 4" descr="preencoded.png">    </p:cNvPr>
          <p:cNvPicPr>
            <a:picLocks noChangeAspect="1"/>
          </p:cNvPicPr>
          <p:nvPr/>
        </p:nvPicPr>
        <p:blipFill>
          <a:blip r:embed="rId5"/>
          <a:stretch>
            <a:fillRect/>
          </a:stretch>
        </p:blipFill>
        <p:spPr>
          <a:xfrm>
            <a:off x="6949440" y="315468"/>
            <a:ext cx="173736" cy="173736"/>
          </a:xfrm>
          <a:prstGeom prst="rect">
            <a:avLst/>
          </a:prstGeom>
        </p:spPr>
      </p:pic>
      <p:sp>
        <p:nvSpPr>
          <p:cNvPr id="12" name="Text 5"/>
          <p:cNvSpPr txBox="1"/>
          <p:nvPr/>
        </p:nvSpPr>
        <p:spPr>
          <a:xfrm>
            <a:off x="7159752" y="265176"/>
            <a:ext cx="502920" cy="274320"/>
          </a:xfrm>
          <a:prstGeom prst="rect">
            <a:avLst/>
          </a:prstGeom>
          <a:noFill/>
          <a:ln/>
        </p:spPr>
        <p:txBody>
          <a:bodyPr wrap="square" lIns="0" tIns="0" rIns="0" bIns="0" rtlCol="0" anchor="ctr"/>
          <a:lstStyle/>
          <a:p>
            <a:pPr indent="0" marL="0">
              <a:buNone/>
            </a:pPr>
            <a:r>
              <a:rPr lang="en-US" sz="950" b="1" dirty="0">
                <a:solidFill>
                  <a:srgbClr val="072011"/>
                </a:solidFill>
                <a:latin typeface="Onest" pitchFamily="34" charset="0"/>
                <a:ea typeface="Onest" pitchFamily="34" charset="-122"/>
                <a:cs typeface="Onest" pitchFamily="34" charset="-120"/>
              </a:rPr>
              <a:t>Log in</a:t>
            </a:r>
            <a:endParaRPr lang="en-US" sz="950" dirty="0"/>
          </a:p>
        </p:txBody>
      </p:sp>
      <p:sp>
        <p:nvSpPr>
          <p:cNvPr id="13" name="Text 6"/>
          <p:cNvSpPr/>
          <p:nvPr/>
        </p:nvSpPr>
        <p:spPr>
          <a:xfrm>
            <a:off x="7772400" y="237744"/>
            <a:ext cx="914400" cy="329184"/>
          </a:xfrm>
          <a:prstGeom prst="roundRect">
            <a:avLst>
              <a:gd name="adj" fmla="val 50000"/>
            </a:avLst>
          </a:prstGeom>
          <a:solidFill>
            <a:srgbClr val="B84747"/>
          </a:solidFill>
          <a:ln/>
        </p:spPr>
        <p:txBody>
          <a:bodyPr wrap="square" lIns="0" tIns="0" rIns="0" bIns="0" rtlCol="0" anchor="ctr"/>
          <a:lstStyle/>
          <a:p>
            <a:pPr algn="ctr" indent="0" marL="0">
              <a:buNone/>
            </a:pPr>
            <a:r>
              <a:rPr lang="en-US" sz="1000" b="1" dirty="0">
                <a:solidFill>
                  <a:srgbClr val="FFFFFF"/>
                </a:solidFill>
                <a:latin typeface="Onest" pitchFamily="34" charset="0"/>
                <a:ea typeface="Onest" pitchFamily="34" charset="-122"/>
                <a:cs typeface="Onest" pitchFamily="34" charset="-120"/>
              </a:rPr>
              <a:t>Sign up</a:t>
            </a:r>
            <a:endParaRPr lang="en-US" sz="1000" dirty="0"/>
          </a:p>
        </p:txBody>
      </p:sp>
      <p:sp>
        <p:nvSpPr>
          <p:cNvPr id="14" name="Text 7"/>
          <p:cNvSpPr txBox="1"/>
          <p:nvPr/>
        </p:nvSpPr>
        <p:spPr>
          <a:xfrm>
            <a:off x="457200" y="868680"/>
            <a:ext cx="2743200" cy="228600"/>
          </a:xfrm>
          <a:prstGeom prst="rect">
            <a:avLst/>
          </a:prstGeom>
          <a:noFill/>
          <a:ln/>
        </p:spPr>
        <p:txBody>
          <a:bodyPr wrap="square" lIns="0" tIns="0" rIns="0" bIns="0" rtlCol="0" anchor="t"/>
          <a:lstStyle/>
          <a:p>
            <a:pPr indent="0" marL="0">
              <a:buNone/>
            </a:pPr>
            <a:r>
              <a:rPr lang="en-US" sz="900" b="1" spc="200" kern="0" dirty="0">
                <a:solidFill>
                  <a:srgbClr val="8C2B2B"/>
                </a:solidFill>
                <a:latin typeface="Onest" pitchFamily="34" charset="0"/>
                <a:ea typeface="Onest" pitchFamily="34" charset="-122"/>
                <a:cs typeface="Onest" pitchFamily="34" charset="-120"/>
              </a:rPr>
              <a:t>WHY UNBOUND</a:t>
            </a:r>
            <a:endParaRPr lang="en-US" sz="900" dirty="0"/>
          </a:p>
        </p:txBody>
      </p:sp>
      <p:sp>
        <p:nvSpPr>
          <p:cNvPr id="15" name="Text 8"/>
          <p:cNvSpPr txBox="1"/>
          <p:nvPr/>
        </p:nvSpPr>
        <p:spPr>
          <a:xfrm>
            <a:off x="457200" y="1115568"/>
            <a:ext cx="6583680" cy="868680"/>
          </a:xfrm>
          <a:prstGeom prst="rect">
            <a:avLst/>
          </a:prstGeom>
          <a:noFill/>
          <a:ln/>
        </p:spPr>
        <p:txBody>
          <a:bodyPr wrap="square" lIns="0" tIns="0" rIns="0" bIns="0" rtlCol="0" anchor="t"/>
          <a:lstStyle/>
          <a:p>
            <a:pPr indent="0" marL="0">
              <a:lnSpc>
                <a:spcPct val="100000"/>
              </a:lnSpc>
              <a:buNone/>
            </a:pPr>
            <a:r>
              <a:rPr lang="en-US" sz="2200" b="1" dirty="0">
                <a:solidFill>
                  <a:srgbClr val="072011"/>
                </a:solidFill>
                <a:latin typeface="Unbounded" pitchFamily="34" charset="0"/>
                <a:ea typeface="Unbounded" pitchFamily="34" charset="-122"/>
                <a:cs typeface="Unbounded" pitchFamily="34" charset="-120"/>
              </a:rPr>
              <a:t>Immigration is scattered across a dozen websites. </a:t>
            </a:r>
            <a:pPr indent="0" marL="0">
              <a:lnSpc>
                <a:spcPct val="100000"/>
              </a:lnSpc>
              <a:buNone/>
            </a:pPr>
            <a:r>
              <a:rPr lang="en-US" sz="2200" b="1" dirty="0">
                <a:solidFill>
                  <a:srgbClr val="8C2B2B"/>
                </a:solidFill>
                <a:latin typeface="Unbounded" pitchFamily="34" charset="0"/>
                <a:ea typeface="Unbounded" pitchFamily="34" charset="-122"/>
                <a:cs typeface="Unbounded" pitchFamily="34" charset="-120"/>
              </a:rPr>
              <a:t>We turn it into one case.</a:t>
            </a:r>
            <a:endParaRPr lang="en-US" sz="2200" dirty="0"/>
          </a:p>
        </p:txBody>
      </p:sp>
      <p:sp>
        <p:nvSpPr>
          <p:cNvPr id="16" name="Text 9"/>
          <p:cNvSpPr txBox="1"/>
          <p:nvPr/>
        </p:nvSpPr>
        <p:spPr>
          <a:xfrm>
            <a:off x="457200" y="2011680"/>
            <a:ext cx="5852160" cy="566928"/>
          </a:xfrm>
          <a:prstGeom prst="rect">
            <a:avLst/>
          </a:prstGeom>
          <a:noFill/>
          <a:ln/>
        </p:spPr>
        <p:txBody>
          <a:bodyPr wrap="square" lIns="0" tIns="0" rIns="0" bIns="0" rtlCol="0" anchor="t"/>
          <a:lstStyle/>
          <a:p>
            <a:pPr indent="0" marL="0">
              <a:buNone/>
            </a:pPr>
            <a:r>
              <a:rPr lang="en-US" sz="1050" dirty="0">
                <a:solidFill>
                  <a:srgbClr val="5A2E2E"/>
                </a:solidFill>
                <a:latin typeface="Onest" pitchFamily="34" charset="0"/>
                <a:ea typeface="Onest" pitchFamily="34" charset="-122"/>
                <a:cs typeface="Onest" pitchFamily="34" charset="-120"/>
              </a:rPr>
              <a:t>Today you are the project manager of your own move: embassy pages, university emails, deadlines and the same documents uploaded again and again. Unbound remembers your case, knows what is done and what is missing, and tells you the next step.</a:t>
            </a:r>
            <a:endParaRPr lang="en-US" sz="1050" dirty="0"/>
          </a:p>
        </p:txBody>
      </p:sp>
      <p:sp>
        <p:nvSpPr>
          <p:cNvPr id="17" name="Shape 10"/>
          <p:cNvSpPr/>
          <p:nvPr/>
        </p:nvSpPr>
        <p:spPr>
          <a:xfrm>
            <a:off x="457200" y="2743200"/>
            <a:ext cx="1933956" cy="1572768"/>
          </a:xfrm>
          <a:prstGeom prst="roundRect">
            <a:avLst>
              <a:gd name="adj" fmla="val 9302"/>
            </a:avLst>
          </a:prstGeom>
          <a:solidFill>
            <a:srgbClr val="F9F1F1"/>
          </a:solidFill>
          <a:ln w="12700">
            <a:solidFill>
              <a:srgbClr val="F9F1F1"/>
            </a:solidFill>
            <a:prstDash val="solid"/>
          </a:ln>
        </p:spPr>
      </p:sp>
      <p:sp>
        <p:nvSpPr>
          <p:cNvPr id="18" name="Text 11"/>
          <p:cNvSpPr txBox="1"/>
          <p:nvPr/>
        </p:nvSpPr>
        <p:spPr>
          <a:xfrm>
            <a:off x="621792" y="2907792"/>
            <a:ext cx="457200" cy="201168"/>
          </a:xfrm>
          <a:prstGeom prst="rect">
            <a:avLst/>
          </a:prstGeom>
          <a:noFill/>
          <a:ln/>
        </p:spPr>
        <p:txBody>
          <a:bodyPr wrap="square" lIns="0" tIns="0" rIns="0" bIns="0" rtlCol="0" anchor="t"/>
          <a:lstStyle/>
          <a:p>
            <a:pPr indent="0" marL="0">
              <a:buNone/>
            </a:pPr>
            <a:r>
              <a:rPr lang="en-US" sz="1000" b="1" dirty="0">
                <a:solidFill>
                  <a:srgbClr val="B84747"/>
                </a:solidFill>
                <a:latin typeface="Unbounded" pitchFamily="34" charset="0"/>
                <a:ea typeface="Unbounded" pitchFamily="34" charset="-122"/>
                <a:cs typeface="Unbounded" pitchFamily="34" charset="-120"/>
              </a:rPr>
              <a:t>01</a:t>
            </a:r>
            <a:endParaRPr lang="en-US" sz="1000" dirty="0"/>
          </a:p>
        </p:txBody>
      </p:sp>
      <p:sp>
        <p:nvSpPr>
          <p:cNvPr id="19" name="Shape 12"/>
          <p:cNvSpPr/>
          <p:nvPr/>
        </p:nvSpPr>
        <p:spPr>
          <a:xfrm>
            <a:off x="1879092" y="2871216"/>
            <a:ext cx="365760" cy="365760"/>
          </a:xfrm>
          <a:prstGeom prst="roundRect">
            <a:avLst>
              <a:gd name="adj" fmla="val 25000"/>
            </a:avLst>
          </a:prstGeom>
          <a:solidFill>
            <a:srgbClr val="072011"/>
          </a:solidFill>
          <a:ln w="12700">
            <a:solidFill>
              <a:srgbClr val="072011"/>
            </a:solidFill>
            <a:prstDash val="solid"/>
          </a:ln>
        </p:spPr>
      </p:sp>
      <p:pic>
        <p:nvPicPr>
          <p:cNvPr id="20" name="Image 5" descr="preencoded.png">    </p:cNvPr>
          <p:cNvPicPr>
            <a:picLocks noChangeAspect="1"/>
          </p:cNvPicPr>
          <p:nvPr/>
        </p:nvPicPr>
        <p:blipFill>
          <a:blip r:embed="rId6"/>
          <a:stretch>
            <a:fillRect/>
          </a:stretch>
        </p:blipFill>
        <p:spPr>
          <a:xfrm>
            <a:off x="1952244" y="2944368"/>
            <a:ext cx="219456" cy="219456"/>
          </a:xfrm>
          <a:prstGeom prst="rect">
            <a:avLst/>
          </a:prstGeom>
        </p:spPr>
      </p:pic>
      <p:sp>
        <p:nvSpPr>
          <p:cNvPr id="21" name="Text 13"/>
          <p:cNvSpPr txBox="1"/>
          <p:nvPr/>
        </p:nvSpPr>
        <p:spPr>
          <a:xfrm>
            <a:off x="621792" y="3291840"/>
            <a:ext cx="1604772" cy="274320"/>
          </a:xfrm>
          <a:prstGeom prst="rect">
            <a:avLst/>
          </a:prstGeom>
          <a:noFill/>
          <a:ln/>
        </p:spPr>
        <p:txBody>
          <a:bodyPr wrap="square" lIns="0" tIns="0" rIns="0" bIns="0" rtlCol="0" anchor="t"/>
          <a:lstStyle/>
          <a:p>
            <a:pPr indent="0" marL="0">
              <a:buNone/>
            </a:pPr>
            <a:r>
              <a:rPr lang="en-US" sz="1050" b="1" dirty="0">
                <a:solidFill>
                  <a:srgbClr val="072011"/>
                </a:solidFill>
                <a:latin typeface="Unbounded" pitchFamily="34" charset="0"/>
                <a:ea typeface="Unbounded" pitchFamily="34" charset="-122"/>
                <a:cs typeface="Unbounded" pitchFamily="34" charset="-120"/>
              </a:rPr>
              <a:t>Tell us your situation</a:t>
            </a:r>
            <a:endParaRPr lang="en-US" sz="1050" dirty="0"/>
          </a:p>
        </p:txBody>
      </p:sp>
      <p:sp>
        <p:nvSpPr>
          <p:cNvPr id="22" name="Text 14"/>
          <p:cNvSpPr txBox="1"/>
          <p:nvPr/>
        </p:nvSpPr>
        <p:spPr>
          <a:xfrm>
            <a:off x="621792" y="3584448"/>
            <a:ext cx="1604772" cy="658368"/>
          </a:xfrm>
          <a:prstGeom prst="rect">
            <a:avLst/>
          </a:prstGeom>
          <a:noFill/>
          <a:ln/>
        </p:spPr>
        <p:txBody>
          <a:bodyPr wrap="square" lIns="0" tIns="0" rIns="0" bIns="0" rtlCol="0" anchor="t"/>
          <a:lstStyle/>
          <a:p>
            <a:pPr indent="0" marL="0">
              <a:buNone/>
            </a:pPr>
            <a:r>
              <a:rPr lang="en-US" sz="900" dirty="0">
                <a:solidFill>
                  <a:srgbClr val="5A2E2E"/>
                </a:solidFill>
                <a:latin typeface="Onest" pitchFamily="34" charset="0"/>
                <a:ea typeface="Onest" pitchFamily="34" charset="-122"/>
                <a:cs typeface="Onest" pitchFamily="34" charset="-120"/>
              </a:rPr>
              <a:t>Passport, destination and purpose. Only the questions that matter, in about two minutes.</a:t>
            </a:r>
            <a:endParaRPr lang="en-US" sz="900" dirty="0"/>
          </a:p>
        </p:txBody>
      </p:sp>
      <p:sp>
        <p:nvSpPr>
          <p:cNvPr id="23" name="Shape 15"/>
          <p:cNvSpPr/>
          <p:nvPr/>
        </p:nvSpPr>
        <p:spPr>
          <a:xfrm>
            <a:off x="2555748" y="2743200"/>
            <a:ext cx="1933956" cy="1572768"/>
          </a:xfrm>
          <a:prstGeom prst="roundRect">
            <a:avLst>
              <a:gd name="adj" fmla="val 9302"/>
            </a:avLst>
          </a:prstGeom>
          <a:solidFill>
            <a:srgbClr val="F9F1F1"/>
          </a:solidFill>
          <a:ln w="12700">
            <a:solidFill>
              <a:srgbClr val="F9F1F1"/>
            </a:solidFill>
            <a:prstDash val="solid"/>
          </a:ln>
        </p:spPr>
      </p:sp>
      <p:sp>
        <p:nvSpPr>
          <p:cNvPr id="24" name="Text 16"/>
          <p:cNvSpPr txBox="1"/>
          <p:nvPr/>
        </p:nvSpPr>
        <p:spPr>
          <a:xfrm>
            <a:off x="2720340" y="2907792"/>
            <a:ext cx="457200" cy="201168"/>
          </a:xfrm>
          <a:prstGeom prst="rect">
            <a:avLst/>
          </a:prstGeom>
          <a:noFill/>
          <a:ln/>
        </p:spPr>
        <p:txBody>
          <a:bodyPr wrap="square" lIns="0" tIns="0" rIns="0" bIns="0" rtlCol="0" anchor="t"/>
          <a:lstStyle/>
          <a:p>
            <a:pPr indent="0" marL="0">
              <a:buNone/>
            </a:pPr>
            <a:r>
              <a:rPr lang="en-US" sz="1000" b="1" dirty="0">
                <a:solidFill>
                  <a:srgbClr val="B84747"/>
                </a:solidFill>
                <a:latin typeface="Unbounded" pitchFamily="34" charset="0"/>
                <a:ea typeface="Unbounded" pitchFamily="34" charset="-122"/>
                <a:cs typeface="Unbounded" pitchFamily="34" charset="-120"/>
              </a:rPr>
              <a:t>02</a:t>
            </a:r>
            <a:endParaRPr lang="en-US" sz="1000" dirty="0"/>
          </a:p>
        </p:txBody>
      </p:sp>
      <p:sp>
        <p:nvSpPr>
          <p:cNvPr id="25" name="Shape 17"/>
          <p:cNvSpPr/>
          <p:nvPr/>
        </p:nvSpPr>
        <p:spPr>
          <a:xfrm>
            <a:off x="3977640" y="2871216"/>
            <a:ext cx="365760" cy="365760"/>
          </a:xfrm>
          <a:prstGeom prst="roundRect">
            <a:avLst>
              <a:gd name="adj" fmla="val 25000"/>
            </a:avLst>
          </a:prstGeom>
          <a:solidFill>
            <a:srgbClr val="072011"/>
          </a:solidFill>
          <a:ln w="12700">
            <a:solidFill>
              <a:srgbClr val="072011"/>
            </a:solidFill>
            <a:prstDash val="solid"/>
          </a:ln>
        </p:spPr>
      </p:sp>
      <p:pic>
        <p:nvPicPr>
          <p:cNvPr id="26" name="Image 6" descr="preencoded.png">    </p:cNvPr>
          <p:cNvPicPr>
            <a:picLocks noChangeAspect="1"/>
          </p:cNvPicPr>
          <p:nvPr/>
        </p:nvPicPr>
        <p:blipFill>
          <a:blip r:embed="rId7"/>
          <a:stretch>
            <a:fillRect/>
          </a:stretch>
        </p:blipFill>
        <p:spPr>
          <a:xfrm>
            <a:off x="4050792" y="2944368"/>
            <a:ext cx="219456" cy="219456"/>
          </a:xfrm>
          <a:prstGeom prst="rect">
            <a:avLst/>
          </a:prstGeom>
        </p:spPr>
      </p:pic>
      <p:sp>
        <p:nvSpPr>
          <p:cNvPr id="27" name="Text 18"/>
          <p:cNvSpPr txBox="1"/>
          <p:nvPr/>
        </p:nvSpPr>
        <p:spPr>
          <a:xfrm>
            <a:off x="2720340" y="3291840"/>
            <a:ext cx="1604772" cy="274320"/>
          </a:xfrm>
          <a:prstGeom prst="rect">
            <a:avLst/>
          </a:prstGeom>
          <a:noFill/>
          <a:ln/>
        </p:spPr>
        <p:txBody>
          <a:bodyPr wrap="square" lIns="0" tIns="0" rIns="0" bIns="0" rtlCol="0" anchor="t"/>
          <a:lstStyle/>
          <a:p>
            <a:pPr indent="0" marL="0">
              <a:buNone/>
            </a:pPr>
            <a:r>
              <a:rPr lang="en-US" sz="1050" b="1" dirty="0">
                <a:solidFill>
                  <a:srgbClr val="072011"/>
                </a:solidFill>
                <a:latin typeface="Unbounded" pitchFamily="34" charset="0"/>
                <a:ea typeface="Unbounded" pitchFamily="34" charset="-122"/>
                <a:cs typeface="Unbounded" pitchFamily="34" charset="-120"/>
              </a:rPr>
              <a:t>Get your pathway</a:t>
            </a:r>
            <a:endParaRPr lang="en-US" sz="1050" dirty="0"/>
          </a:p>
        </p:txBody>
      </p:sp>
      <p:sp>
        <p:nvSpPr>
          <p:cNvPr id="28" name="Text 19"/>
          <p:cNvSpPr txBox="1"/>
          <p:nvPr/>
        </p:nvSpPr>
        <p:spPr>
          <a:xfrm>
            <a:off x="2720340" y="3584448"/>
            <a:ext cx="1604772" cy="658368"/>
          </a:xfrm>
          <a:prstGeom prst="rect">
            <a:avLst/>
          </a:prstGeom>
          <a:noFill/>
          <a:ln/>
        </p:spPr>
        <p:txBody>
          <a:bodyPr wrap="square" lIns="0" tIns="0" rIns="0" bIns="0" rtlCol="0" anchor="t"/>
          <a:lstStyle/>
          <a:p>
            <a:pPr indent="0" marL="0">
              <a:buNone/>
            </a:pPr>
            <a:r>
              <a:rPr lang="en-US" sz="900" dirty="0">
                <a:solidFill>
                  <a:srgbClr val="5A2E2E"/>
                </a:solidFill>
                <a:latin typeface="Onest" pitchFamily="34" charset="0"/>
                <a:ea typeface="Onest" pitchFamily="34" charset="-122"/>
                <a:cs typeface="Onest" pitchFamily="34" charset="-120"/>
              </a:rPr>
              <a:t>The right permit, a personal checklist, fees and every deadline on one timeline.</a:t>
            </a:r>
            <a:endParaRPr lang="en-US" sz="900" dirty="0"/>
          </a:p>
        </p:txBody>
      </p:sp>
      <p:sp>
        <p:nvSpPr>
          <p:cNvPr id="29" name="Shape 20"/>
          <p:cNvSpPr/>
          <p:nvPr/>
        </p:nvSpPr>
        <p:spPr>
          <a:xfrm>
            <a:off x="4654296" y="2743200"/>
            <a:ext cx="1933956" cy="1572768"/>
          </a:xfrm>
          <a:prstGeom prst="roundRect">
            <a:avLst>
              <a:gd name="adj" fmla="val 9302"/>
            </a:avLst>
          </a:prstGeom>
          <a:solidFill>
            <a:srgbClr val="F9F1F1"/>
          </a:solidFill>
          <a:ln w="12700">
            <a:solidFill>
              <a:srgbClr val="F9F1F1"/>
            </a:solidFill>
            <a:prstDash val="solid"/>
          </a:ln>
        </p:spPr>
      </p:sp>
      <p:sp>
        <p:nvSpPr>
          <p:cNvPr id="30" name="Text 21"/>
          <p:cNvSpPr txBox="1"/>
          <p:nvPr/>
        </p:nvSpPr>
        <p:spPr>
          <a:xfrm>
            <a:off x="4818888" y="2907792"/>
            <a:ext cx="457200" cy="201168"/>
          </a:xfrm>
          <a:prstGeom prst="rect">
            <a:avLst/>
          </a:prstGeom>
          <a:noFill/>
          <a:ln/>
        </p:spPr>
        <p:txBody>
          <a:bodyPr wrap="square" lIns="0" tIns="0" rIns="0" bIns="0" rtlCol="0" anchor="t"/>
          <a:lstStyle/>
          <a:p>
            <a:pPr indent="0" marL="0">
              <a:buNone/>
            </a:pPr>
            <a:r>
              <a:rPr lang="en-US" sz="1000" b="1" dirty="0">
                <a:solidFill>
                  <a:srgbClr val="B84747"/>
                </a:solidFill>
                <a:latin typeface="Unbounded" pitchFamily="34" charset="0"/>
                <a:ea typeface="Unbounded" pitchFamily="34" charset="-122"/>
                <a:cs typeface="Unbounded" pitchFamily="34" charset="-120"/>
              </a:rPr>
              <a:t>03</a:t>
            </a:r>
            <a:endParaRPr lang="en-US" sz="1000" dirty="0"/>
          </a:p>
        </p:txBody>
      </p:sp>
      <p:sp>
        <p:nvSpPr>
          <p:cNvPr id="31" name="Shape 22"/>
          <p:cNvSpPr/>
          <p:nvPr/>
        </p:nvSpPr>
        <p:spPr>
          <a:xfrm>
            <a:off x="6076188" y="2871216"/>
            <a:ext cx="365760" cy="365760"/>
          </a:xfrm>
          <a:prstGeom prst="roundRect">
            <a:avLst>
              <a:gd name="adj" fmla="val 25000"/>
            </a:avLst>
          </a:prstGeom>
          <a:solidFill>
            <a:srgbClr val="072011"/>
          </a:solidFill>
          <a:ln w="12700">
            <a:solidFill>
              <a:srgbClr val="072011"/>
            </a:solidFill>
            <a:prstDash val="solid"/>
          </a:ln>
        </p:spPr>
      </p:sp>
      <p:pic>
        <p:nvPicPr>
          <p:cNvPr id="32" name="Image 7" descr="preencoded.png">    </p:cNvPr>
          <p:cNvPicPr>
            <a:picLocks noChangeAspect="1"/>
          </p:cNvPicPr>
          <p:nvPr/>
        </p:nvPicPr>
        <p:blipFill>
          <a:blip r:embed="rId8"/>
          <a:stretch>
            <a:fillRect/>
          </a:stretch>
        </p:blipFill>
        <p:spPr>
          <a:xfrm>
            <a:off x="6149340" y="2944368"/>
            <a:ext cx="219456" cy="219456"/>
          </a:xfrm>
          <a:prstGeom prst="rect">
            <a:avLst/>
          </a:prstGeom>
        </p:spPr>
      </p:pic>
      <p:sp>
        <p:nvSpPr>
          <p:cNvPr id="33" name="Text 23"/>
          <p:cNvSpPr txBox="1"/>
          <p:nvPr/>
        </p:nvSpPr>
        <p:spPr>
          <a:xfrm>
            <a:off x="4818888" y="3291840"/>
            <a:ext cx="1604772" cy="274320"/>
          </a:xfrm>
          <a:prstGeom prst="rect">
            <a:avLst/>
          </a:prstGeom>
          <a:noFill/>
          <a:ln/>
        </p:spPr>
        <p:txBody>
          <a:bodyPr wrap="square" lIns="0" tIns="0" rIns="0" bIns="0" rtlCol="0" anchor="t"/>
          <a:lstStyle/>
          <a:p>
            <a:pPr indent="0" marL="0">
              <a:buNone/>
            </a:pPr>
            <a:r>
              <a:rPr lang="en-US" sz="1050" b="1" dirty="0">
                <a:solidFill>
                  <a:srgbClr val="072011"/>
                </a:solidFill>
                <a:latin typeface="Unbounded" pitchFamily="34" charset="0"/>
                <a:ea typeface="Unbounded" pitchFamily="34" charset="-122"/>
                <a:cs typeface="Unbounded" pitchFamily="34" charset="-120"/>
              </a:rPr>
              <a:t>Prepare and check</a:t>
            </a:r>
            <a:endParaRPr lang="en-US" sz="1050" dirty="0"/>
          </a:p>
        </p:txBody>
      </p:sp>
      <p:sp>
        <p:nvSpPr>
          <p:cNvPr id="34" name="Text 24"/>
          <p:cNvSpPr txBox="1"/>
          <p:nvPr/>
        </p:nvSpPr>
        <p:spPr>
          <a:xfrm>
            <a:off x="4818888" y="3584448"/>
            <a:ext cx="1604772" cy="658368"/>
          </a:xfrm>
          <a:prstGeom prst="rect">
            <a:avLst/>
          </a:prstGeom>
          <a:noFill/>
          <a:ln/>
        </p:spPr>
        <p:txBody>
          <a:bodyPr wrap="square" lIns="0" tIns="0" rIns="0" bIns="0" rtlCol="0" anchor="t"/>
          <a:lstStyle/>
          <a:p>
            <a:pPr indent="0" marL="0">
              <a:buNone/>
            </a:pPr>
            <a:r>
              <a:rPr lang="en-US" sz="900" dirty="0">
                <a:solidFill>
                  <a:srgbClr val="5A2E2E"/>
                </a:solidFill>
                <a:latin typeface="Onest" pitchFamily="34" charset="0"/>
                <a:ea typeface="Onest" pitchFamily="34" charset="-122"/>
                <a:cs typeface="Onest" pitchFamily="34" charset="-120"/>
              </a:rPr>
              <a:t>Upload once. AI checks names, dates and formats before you submit anything.</a:t>
            </a:r>
            <a:endParaRPr lang="en-US" sz="900" dirty="0"/>
          </a:p>
        </p:txBody>
      </p:sp>
      <p:sp>
        <p:nvSpPr>
          <p:cNvPr id="35" name="Shape 25"/>
          <p:cNvSpPr/>
          <p:nvPr/>
        </p:nvSpPr>
        <p:spPr>
          <a:xfrm>
            <a:off x="6752844" y="2743200"/>
            <a:ext cx="1933956" cy="1572768"/>
          </a:xfrm>
          <a:prstGeom prst="roundRect">
            <a:avLst>
              <a:gd name="adj" fmla="val 9302"/>
            </a:avLst>
          </a:prstGeom>
          <a:solidFill>
            <a:srgbClr val="F9F1F1"/>
          </a:solidFill>
          <a:ln w="12700">
            <a:solidFill>
              <a:srgbClr val="F9F1F1"/>
            </a:solidFill>
            <a:prstDash val="solid"/>
          </a:ln>
        </p:spPr>
      </p:sp>
      <p:sp>
        <p:nvSpPr>
          <p:cNvPr id="36" name="Text 26"/>
          <p:cNvSpPr txBox="1"/>
          <p:nvPr/>
        </p:nvSpPr>
        <p:spPr>
          <a:xfrm>
            <a:off x="6917436" y="2907792"/>
            <a:ext cx="457200" cy="201168"/>
          </a:xfrm>
          <a:prstGeom prst="rect">
            <a:avLst/>
          </a:prstGeom>
          <a:noFill/>
          <a:ln/>
        </p:spPr>
        <p:txBody>
          <a:bodyPr wrap="square" lIns="0" tIns="0" rIns="0" bIns="0" rtlCol="0" anchor="t"/>
          <a:lstStyle/>
          <a:p>
            <a:pPr indent="0" marL="0">
              <a:buNone/>
            </a:pPr>
            <a:r>
              <a:rPr lang="en-US" sz="1000" b="1" dirty="0">
                <a:solidFill>
                  <a:srgbClr val="B84747"/>
                </a:solidFill>
                <a:latin typeface="Unbounded" pitchFamily="34" charset="0"/>
                <a:ea typeface="Unbounded" pitchFamily="34" charset="-122"/>
                <a:cs typeface="Unbounded" pitchFamily="34" charset="-120"/>
              </a:rPr>
              <a:t>04</a:t>
            </a:r>
            <a:endParaRPr lang="en-US" sz="1000" dirty="0"/>
          </a:p>
        </p:txBody>
      </p:sp>
      <p:sp>
        <p:nvSpPr>
          <p:cNvPr id="37" name="Shape 27"/>
          <p:cNvSpPr/>
          <p:nvPr/>
        </p:nvSpPr>
        <p:spPr>
          <a:xfrm>
            <a:off x="8174736" y="2871216"/>
            <a:ext cx="365760" cy="365760"/>
          </a:xfrm>
          <a:prstGeom prst="roundRect">
            <a:avLst>
              <a:gd name="adj" fmla="val 25000"/>
            </a:avLst>
          </a:prstGeom>
          <a:solidFill>
            <a:srgbClr val="072011"/>
          </a:solidFill>
          <a:ln w="12700">
            <a:solidFill>
              <a:srgbClr val="072011"/>
            </a:solidFill>
            <a:prstDash val="solid"/>
          </a:ln>
        </p:spPr>
      </p:sp>
      <p:pic>
        <p:nvPicPr>
          <p:cNvPr id="38" name="Image 8" descr="preencoded.png">    </p:cNvPr>
          <p:cNvPicPr>
            <a:picLocks noChangeAspect="1"/>
          </p:cNvPicPr>
          <p:nvPr/>
        </p:nvPicPr>
        <p:blipFill>
          <a:blip r:embed="rId9"/>
          <a:stretch>
            <a:fillRect/>
          </a:stretch>
        </p:blipFill>
        <p:spPr>
          <a:xfrm>
            <a:off x="8247888" y="2944368"/>
            <a:ext cx="219456" cy="219456"/>
          </a:xfrm>
          <a:prstGeom prst="rect">
            <a:avLst/>
          </a:prstGeom>
        </p:spPr>
      </p:pic>
      <p:sp>
        <p:nvSpPr>
          <p:cNvPr id="39" name="Text 28"/>
          <p:cNvSpPr txBox="1"/>
          <p:nvPr/>
        </p:nvSpPr>
        <p:spPr>
          <a:xfrm>
            <a:off x="6917436" y="3291840"/>
            <a:ext cx="1604772" cy="274320"/>
          </a:xfrm>
          <a:prstGeom prst="rect">
            <a:avLst/>
          </a:prstGeom>
          <a:noFill/>
          <a:ln/>
        </p:spPr>
        <p:txBody>
          <a:bodyPr wrap="square" lIns="0" tIns="0" rIns="0" bIns="0" rtlCol="0" anchor="t"/>
          <a:lstStyle/>
          <a:p>
            <a:pPr indent="0" marL="0">
              <a:buNone/>
            </a:pPr>
            <a:r>
              <a:rPr lang="en-US" sz="1050" b="1" dirty="0">
                <a:solidFill>
                  <a:srgbClr val="072011"/>
                </a:solidFill>
                <a:latin typeface="Unbounded" pitchFamily="34" charset="0"/>
                <a:ea typeface="Unbounded" pitchFamily="34" charset="-122"/>
                <a:cs typeface="Unbounded" pitchFamily="34" charset="-120"/>
              </a:rPr>
              <a:t>Stay on track</a:t>
            </a:r>
            <a:endParaRPr lang="en-US" sz="1050" dirty="0"/>
          </a:p>
        </p:txBody>
      </p:sp>
      <p:sp>
        <p:nvSpPr>
          <p:cNvPr id="40" name="Text 29"/>
          <p:cNvSpPr txBox="1"/>
          <p:nvPr/>
        </p:nvSpPr>
        <p:spPr>
          <a:xfrm>
            <a:off x="6917436" y="3584448"/>
            <a:ext cx="1604772" cy="658368"/>
          </a:xfrm>
          <a:prstGeom prst="rect">
            <a:avLst/>
          </a:prstGeom>
          <a:noFill/>
          <a:ln/>
        </p:spPr>
        <p:txBody>
          <a:bodyPr wrap="square" lIns="0" tIns="0" rIns="0" bIns="0" rtlCol="0" anchor="t"/>
          <a:lstStyle/>
          <a:p>
            <a:pPr indent="0" marL="0">
              <a:buNone/>
            </a:pPr>
            <a:r>
              <a:rPr lang="en-US" sz="900" dirty="0">
                <a:solidFill>
                  <a:srgbClr val="5A2E2E"/>
                </a:solidFill>
                <a:latin typeface="Onest" pitchFamily="34" charset="0"/>
                <a:ea typeface="Onest" pitchFamily="34" charset="-122"/>
                <a:cs typeface="Onest" pitchFamily="34" charset="-120"/>
              </a:rPr>
              <a:t>Reminders before renewals, help when you change status, and a plan for what comes next.</a:t>
            </a:r>
            <a:endParaRPr lang="en-US" sz="900" dirty="0"/>
          </a:p>
        </p:txBody>
      </p:sp>
      <p:sp>
        <p:nvSpPr>
          <p:cNvPr id="41" name="Text 30"/>
          <p:cNvSpPr txBox="1"/>
          <p:nvPr/>
        </p:nvSpPr>
        <p:spPr>
          <a:xfrm>
            <a:off x="457200" y="4553712"/>
            <a:ext cx="5486400" cy="274320"/>
          </a:xfrm>
          <a:prstGeom prst="rect">
            <a:avLst/>
          </a:prstGeom>
          <a:noFill/>
          <a:ln/>
        </p:spPr>
        <p:txBody>
          <a:bodyPr wrap="square" lIns="0" tIns="0" rIns="0" bIns="0" rtlCol="0" anchor="ctr"/>
          <a:lstStyle/>
          <a:p>
            <a:pPr indent="0" marL="0">
              <a:buNone/>
            </a:pPr>
            <a:r>
              <a:rPr lang="en-US" sz="1000" dirty="0">
                <a:solidFill>
                  <a:srgbClr val="072011"/>
                </a:solidFill>
                <a:latin typeface="Unbounded" pitchFamily="34" charset="0"/>
                <a:ea typeface="Unbounded" pitchFamily="34" charset="-122"/>
                <a:cs typeface="Unbounded" pitchFamily="34" charset="-120"/>
              </a:rPr>
              <a:t>Apply  ·  Arrive  ·  </a:t>
            </a:r>
            <a:pPr indent="0" marL="0">
              <a:buNone/>
            </a:pPr>
            <a:r>
              <a:rPr lang="en-US" sz="1000" dirty="0">
                <a:solidFill>
                  <a:srgbClr val="8C2B2B"/>
                </a:solidFill>
                <a:latin typeface="Unbounded" pitchFamily="34" charset="0"/>
                <a:ea typeface="Unbounded" pitchFamily="34" charset="-122"/>
                <a:cs typeface="Unbounded" pitchFamily="34" charset="-120"/>
              </a:rPr>
              <a:t>Stay</a:t>
            </a:r>
            <a:pPr indent="0" marL="0">
              <a:buNone/>
            </a:pPr>
            <a:r>
              <a:rPr lang="en-US" sz="1000" dirty="0">
                <a:solidFill>
                  <a:srgbClr val="072011"/>
                </a:solidFill>
                <a:latin typeface="Unbounded" pitchFamily="34" charset="0"/>
                <a:ea typeface="Unbounded" pitchFamily="34" charset="-122"/>
                <a:cs typeface="Unbounded" pitchFamily="34" charset="-120"/>
              </a:rPr>
              <a:t>  ·  Transition  ·  Next chapter</a:t>
            </a:r>
            <a:endParaRPr lang="en-US" sz="1000" dirty="0"/>
          </a:p>
        </p:txBody>
      </p:sp>
      <p:sp>
        <p:nvSpPr>
          <p:cNvPr id="42" name="Text 31"/>
          <p:cNvSpPr/>
          <p:nvPr/>
        </p:nvSpPr>
        <p:spPr>
          <a:xfrm>
            <a:off x="7498080" y="4498848"/>
            <a:ext cx="1188720" cy="384048"/>
          </a:xfrm>
          <a:prstGeom prst="roundRect">
            <a:avLst>
              <a:gd name="adj" fmla="val 50000"/>
            </a:avLst>
          </a:prstGeom>
          <a:solidFill>
            <a:srgbClr val="072011"/>
          </a:solidFill>
          <a:ln/>
        </p:spPr>
        <p:txBody>
          <a:bodyPr wrap="square" lIns="0" tIns="0" rIns="0" bIns="0" rtlCol="0" anchor="ctr"/>
          <a:lstStyle/>
          <a:p>
            <a:pPr algn="ctr" indent="0" marL="0">
              <a:buNone/>
            </a:pPr>
            <a:r>
              <a:rPr lang="en-US" sz="1100" b="1" dirty="0">
                <a:solidFill>
                  <a:srgbClr val="FFFFFF"/>
                </a:solidFill>
                <a:latin typeface="Onest" pitchFamily="34" charset="0"/>
                <a:ea typeface="Onest" pitchFamily="34" charset="-122"/>
                <a:cs typeface="Onest" pitchFamily="34" charset="-120"/>
              </a:rPr>
              <a:t>Try it now</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72011"/>
        </a:solidFill>
      </p:bgPr>
    </p:bg>
    <p:spTree>
      <p:nvGrpSpPr>
        <p:cNvPr id="1" name=""/>
        <p:cNvGrpSpPr/>
        <p:nvPr/>
      </p:nvGrpSpPr>
      <p:grpSpPr>
        <a:xfrm>
          <a:off x="0" y="0"/>
          <a:ext cx="0" cy="0"/>
          <a:chOff x="0" y="0"/>
          <a:chExt cx="0" cy="0"/>
        </a:xfrm>
      </p:grpSpPr>
      <p:pic>
        <p:nvPicPr>
          <p:cNvPr id="2" name="Image 0" descr="Unbound logo">    </p:cNvPr>
          <p:cNvPicPr>
            <a:picLocks noChangeAspect="1"/>
          </p:cNvPicPr>
          <p:nvPr/>
        </p:nvPicPr>
        <p:blipFill>
          <a:blip r:embed="rId1"/>
          <a:stretch>
            <a:fillRect/>
          </a:stretch>
        </p:blipFill>
        <p:spPr>
          <a:xfrm>
            <a:off x="457200" y="237744"/>
            <a:ext cx="329184" cy="329184"/>
          </a:xfrm>
          <a:prstGeom prst="rect">
            <a:avLst/>
          </a:prstGeom>
        </p:spPr>
      </p:pic>
      <p:sp>
        <p:nvSpPr>
          <p:cNvPr id="3" name="Text 0"/>
          <p:cNvSpPr txBox="1"/>
          <p:nvPr/>
        </p:nvSpPr>
        <p:spPr>
          <a:xfrm>
            <a:off x="859536" y="246888"/>
            <a:ext cx="1280160" cy="310896"/>
          </a:xfrm>
          <a:prstGeom prst="rect">
            <a:avLst/>
          </a:prstGeom>
          <a:noFill/>
          <a:ln/>
        </p:spPr>
        <p:txBody>
          <a:bodyPr wrap="square" lIns="0" tIns="0" rIns="0" bIns="0" rtlCol="0" anchor="ctr"/>
          <a:lstStyle/>
          <a:p>
            <a:pPr indent="0" marL="0">
              <a:buNone/>
            </a:pPr>
            <a:r>
              <a:rPr lang="en-US" sz="1500" b="1" dirty="0">
                <a:solidFill>
                  <a:srgbClr val="FFFFFF"/>
                </a:solidFill>
                <a:latin typeface="Unbounded" pitchFamily="34" charset="0"/>
                <a:ea typeface="Unbounded" pitchFamily="34" charset="-122"/>
                <a:cs typeface="Unbounded" pitchFamily="34" charset="-120"/>
              </a:rPr>
              <a:t>unbound</a:t>
            </a:r>
            <a:endParaRPr lang="en-US" sz="1500" dirty="0"/>
          </a:p>
        </p:txBody>
      </p:sp>
      <p:sp>
        <p:nvSpPr>
          <p:cNvPr id="4" name="Text 1"/>
          <p:cNvSpPr txBox="1"/>
          <p:nvPr/>
        </p:nvSpPr>
        <p:spPr>
          <a:xfrm>
            <a:off x="4709160" y="265176"/>
            <a:ext cx="960120" cy="274320"/>
          </a:xfrm>
          <a:prstGeom prst="rect">
            <a:avLst/>
          </a:prstGeom>
          <a:noFill/>
          <a:ln/>
        </p:spPr>
        <p:txBody>
          <a:bodyPr wrap="square" lIns="0" tIns="0" rIns="0" bIns="0" rtlCol="0" anchor="ctr"/>
          <a:lstStyle/>
          <a:p>
            <a:pPr algn="r" indent="0" marL="0">
              <a:buNone/>
            </a:pPr>
            <a:r>
              <a:rPr lang="en-US" sz="950" b="1" dirty="0">
                <a:solidFill>
                  <a:srgbClr val="FFFFFF"/>
                </a:solidFill>
                <a:latin typeface="Onest" pitchFamily="34" charset="0"/>
                <a:ea typeface="Onest" pitchFamily="34" charset="-122"/>
                <a:cs typeface="Onest" pitchFamily="34" charset="-120"/>
              </a:rPr>
              <a:t>For employers</a:t>
            </a:r>
            <a:endParaRPr lang="en-US" sz="950" dirty="0"/>
          </a:p>
        </p:txBody>
      </p:sp>
      <p:sp>
        <p:nvSpPr>
          <p:cNvPr id="5" name="Shape 2"/>
          <p:cNvSpPr/>
          <p:nvPr/>
        </p:nvSpPr>
        <p:spPr>
          <a:xfrm>
            <a:off x="5806440" y="246888"/>
            <a:ext cx="658368" cy="310896"/>
          </a:xfrm>
          <a:prstGeom prst="roundRect">
            <a:avLst>
              <a:gd name="adj" fmla="val 50000"/>
            </a:avLst>
          </a:prstGeom>
          <a:solidFill>
            <a:srgbClr val="03100A">
              <a:alpha val="40000"/>
            </a:srgbClr>
          </a:solidFill>
          <a:ln w="9525">
            <a:solidFill>
              <a:srgbClr val="FFFFFF">
                <a:alpha val="45000"/>
              </a:srgbClr>
            </a:solidFill>
            <a:prstDash val="solid"/>
          </a:ln>
        </p:spPr>
      </p:sp>
      <p:pic>
        <p:nvPicPr>
          <p:cNvPr id="6" name="Image 1" descr="preencoded.png">    </p:cNvPr>
          <p:cNvPicPr>
            <a:picLocks noChangeAspect="1"/>
          </p:cNvPicPr>
          <p:nvPr/>
        </p:nvPicPr>
        <p:blipFill>
          <a:blip r:embed="rId2"/>
          <a:stretch>
            <a:fillRect/>
          </a:stretch>
        </p:blipFill>
        <p:spPr>
          <a:xfrm>
            <a:off x="5907024" y="333756"/>
            <a:ext cx="192024" cy="128016"/>
          </a:xfrm>
          <a:prstGeom prst="rect">
            <a:avLst/>
          </a:prstGeom>
        </p:spPr>
      </p:pic>
      <p:sp>
        <p:nvSpPr>
          <p:cNvPr id="7" name="Text 3"/>
          <p:cNvSpPr txBox="1"/>
          <p:nvPr/>
        </p:nvSpPr>
        <p:spPr>
          <a:xfrm>
            <a:off x="6135624" y="265176"/>
            <a:ext cx="274320" cy="274320"/>
          </a:xfrm>
          <a:prstGeom prst="rect">
            <a:avLst/>
          </a:prstGeom>
          <a:noFill/>
          <a:ln/>
        </p:spPr>
        <p:txBody>
          <a:bodyPr wrap="square" lIns="0" tIns="0" rIns="0" bIns="0" rtlCol="0" anchor="ctr"/>
          <a:lstStyle/>
          <a:p>
            <a:pPr indent="0" marL="0">
              <a:buNone/>
            </a:pPr>
            <a:r>
              <a:rPr lang="en-US" sz="950" b="1" dirty="0">
                <a:solidFill>
                  <a:srgbClr val="FFFFFF"/>
                </a:solidFill>
                <a:latin typeface="Onest" pitchFamily="34" charset="0"/>
                <a:ea typeface="Onest" pitchFamily="34" charset="-122"/>
                <a:cs typeface="Onest" pitchFamily="34" charset="-120"/>
              </a:rPr>
              <a:t>EN</a:t>
            </a:r>
            <a:endParaRPr lang="en-US" sz="950" dirty="0"/>
          </a:p>
        </p:txBody>
      </p:sp>
      <p:sp>
        <p:nvSpPr>
          <p:cNvPr id="8" name="Shape 4"/>
          <p:cNvSpPr/>
          <p:nvPr/>
        </p:nvSpPr>
        <p:spPr>
          <a:xfrm>
            <a:off x="6537960" y="246888"/>
            <a:ext cx="310896" cy="310896"/>
          </a:xfrm>
          <a:prstGeom prst="ellipse">
            <a:avLst/>
          </a:prstGeom>
          <a:solidFill>
            <a:srgbClr val="03100A">
              <a:alpha val="40000"/>
            </a:srgbClr>
          </a:solidFill>
          <a:ln w="9525">
            <a:solidFill>
              <a:srgbClr val="FFFFFF">
                <a:alpha val="45000"/>
              </a:srgbClr>
            </a:solidFill>
            <a:prstDash val="solid"/>
          </a:ln>
        </p:spPr>
      </p:sp>
      <p:pic>
        <p:nvPicPr>
          <p:cNvPr id="9" name="Image 2" descr="Help">    </p:cNvPr>
          <p:cNvPicPr>
            <a:picLocks noChangeAspect="1"/>
          </p:cNvPicPr>
          <p:nvPr/>
        </p:nvPicPr>
        <p:blipFill>
          <a:blip r:embed="rId3"/>
          <a:stretch>
            <a:fillRect/>
          </a:stretch>
        </p:blipFill>
        <p:spPr>
          <a:xfrm>
            <a:off x="6601968" y="310896"/>
            <a:ext cx="182880" cy="182880"/>
          </a:xfrm>
          <a:prstGeom prst="rect">
            <a:avLst/>
          </a:prstGeom>
        </p:spPr>
      </p:pic>
      <p:pic>
        <p:nvPicPr>
          <p:cNvPr id="10" name="Image 3" descr="preencoded.png">    </p:cNvPr>
          <p:cNvPicPr>
            <a:picLocks noChangeAspect="1"/>
          </p:cNvPicPr>
          <p:nvPr/>
        </p:nvPicPr>
        <p:blipFill>
          <a:blip r:embed="rId4"/>
          <a:stretch>
            <a:fillRect/>
          </a:stretch>
        </p:blipFill>
        <p:spPr>
          <a:xfrm>
            <a:off x="6949440" y="315468"/>
            <a:ext cx="173736" cy="173736"/>
          </a:xfrm>
          <a:prstGeom prst="rect">
            <a:avLst/>
          </a:prstGeom>
        </p:spPr>
      </p:pic>
      <p:sp>
        <p:nvSpPr>
          <p:cNvPr id="11" name="Text 5"/>
          <p:cNvSpPr txBox="1"/>
          <p:nvPr/>
        </p:nvSpPr>
        <p:spPr>
          <a:xfrm>
            <a:off x="7159752" y="265176"/>
            <a:ext cx="502920" cy="274320"/>
          </a:xfrm>
          <a:prstGeom prst="rect">
            <a:avLst/>
          </a:prstGeom>
          <a:noFill/>
          <a:ln/>
        </p:spPr>
        <p:txBody>
          <a:bodyPr wrap="square" lIns="0" tIns="0" rIns="0" bIns="0" rtlCol="0" anchor="ctr"/>
          <a:lstStyle/>
          <a:p>
            <a:pPr indent="0" marL="0">
              <a:buNone/>
            </a:pPr>
            <a:r>
              <a:rPr lang="en-US" sz="950" b="1" dirty="0">
                <a:solidFill>
                  <a:srgbClr val="FFFFFF"/>
                </a:solidFill>
                <a:latin typeface="Onest" pitchFamily="34" charset="0"/>
                <a:ea typeface="Onest" pitchFamily="34" charset="-122"/>
                <a:cs typeface="Onest" pitchFamily="34" charset="-120"/>
              </a:rPr>
              <a:t>Log in</a:t>
            </a:r>
            <a:endParaRPr lang="en-US" sz="950" dirty="0"/>
          </a:p>
        </p:txBody>
      </p:sp>
      <p:sp>
        <p:nvSpPr>
          <p:cNvPr id="12" name="Text 6"/>
          <p:cNvSpPr/>
          <p:nvPr/>
        </p:nvSpPr>
        <p:spPr>
          <a:xfrm>
            <a:off x="7772400" y="237744"/>
            <a:ext cx="914400" cy="329184"/>
          </a:xfrm>
          <a:prstGeom prst="roundRect">
            <a:avLst>
              <a:gd name="adj" fmla="val 50000"/>
            </a:avLst>
          </a:prstGeom>
          <a:solidFill>
            <a:srgbClr val="B84747"/>
          </a:solidFill>
          <a:ln/>
        </p:spPr>
        <p:txBody>
          <a:bodyPr wrap="square" lIns="0" tIns="0" rIns="0" bIns="0" rtlCol="0" anchor="ctr"/>
          <a:lstStyle/>
          <a:p>
            <a:pPr algn="ctr" indent="0" marL="0">
              <a:buNone/>
            </a:pPr>
            <a:r>
              <a:rPr lang="en-US" sz="1000" b="1" dirty="0">
                <a:solidFill>
                  <a:srgbClr val="FFFFFF"/>
                </a:solidFill>
                <a:latin typeface="Onest" pitchFamily="34" charset="0"/>
                <a:ea typeface="Onest" pitchFamily="34" charset="-122"/>
                <a:cs typeface="Onest" pitchFamily="34" charset="-120"/>
              </a:rPr>
              <a:t>Sign up</a:t>
            </a:r>
            <a:endParaRPr lang="en-US" sz="1000" dirty="0"/>
          </a:p>
        </p:txBody>
      </p:sp>
      <p:sp>
        <p:nvSpPr>
          <p:cNvPr id="13" name="Text 7"/>
          <p:cNvSpPr txBox="1"/>
          <p:nvPr/>
        </p:nvSpPr>
        <p:spPr>
          <a:xfrm>
            <a:off x="457200" y="1143000"/>
            <a:ext cx="3200400" cy="228600"/>
          </a:xfrm>
          <a:prstGeom prst="rect">
            <a:avLst/>
          </a:prstGeom>
          <a:noFill/>
          <a:ln/>
        </p:spPr>
        <p:txBody>
          <a:bodyPr wrap="square" lIns="0" tIns="0" rIns="0" bIns="0" rtlCol="0" anchor="t"/>
          <a:lstStyle/>
          <a:p>
            <a:pPr indent="0" marL="0">
              <a:buNone/>
            </a:pPr>
            <a:r>
              <a:rPr lang="en-US" sz="900" b="1" spc="200" kern="0" dirty="0">
                <a:solidFill>
                  <a:srgbClr val="D8A9A9"/>
                </a:solidFill>
                <a:latin typeface="Onest" pitchFamily="34" charset="0"/>
                <a:ea typeface="Onest" pitchFamily="34" charset="-122"/>
                <a:cs typeface="Onest" pitchFamily="34" charset="-120"/>
              </a:rPr>
              <a:t>TRY IT IN 30 SECONDS</a:t>
            </a:r>
            <a:endParaRPr lang="en-US" sz="900" dirty="0"/>
          </a:p>
        </p:txBody>
      </p:sp>
      <p:sp>
        <p:nvSpPr>
          <p:cNvPr id="14" name="Text 8"/>
          <p:cNvSpPr txBox="1"/>
          <p:nvPr/>
        </p:nvSpPr>
        <p:spPr>
          <a:xfrm>
            <a:off x="457200" y="1389888"/>
            <a:ext cx="3291840" cy="1143000"/>
          </a:xfrm>
          <a:prstGeom prst="rect">
            <a:avLst/>
          </a:prstGeom>
          <a:noFill/>
          <a:ln/>
        </p:spPr>
        <p:txBody>
          <a:bodyPr wrap="square" lIns="0" tIns="0" rIns="0" bIns="0" rtlCol="0" anchor="t"/>
          <a:lstStyle/>
          <a:p>
            <a:pPr indent="0" marL="0">
              <a:lnSpc>
                <a:spcPct val="100000"/>
              </a:lnSpc>
              <a:buNone/>
            </a:pPr>
            <a:r>
              <a:rPr lang="en-US" sz="2400" b="1" dirty="0">
                <a:solidFill>
                  <a:srgbClr val="FFFFFF"/>
                </a:solidFill>
                <a:latin typeface="Unbounded" pitchFamily="34" charset="0"/>
                <a:ea typeface="Unbounded" pitchFamily="34" charset="-122"/>
                <a:cs typeface="Unbounded" pitchFamily="34" charset="-120"/>
              </a:rPr>
              <a:t>Where does your next chapter begin?</a:t>
            </a:r>
            <a:endParaRPr lang="en-US" sz="2400" dirty="0"/>
          </a:p>
        </p:txBody>
      </p:sp>
      <p:sp>
        <p:nvSpPr>
          <p:cNvPr id="15" name="Text 9"/>
          <p:cNvSpPr txBox="1"/>
          <p:nvPr/>
        </p:nvSpPr>
        <p:spPr>
          <a:xfrm>
            <a:off x="457200" y="2651760"/>
            <a:ext cx="3200400" cy="731520"/>
          </a:xfrm>
          <a:prstGeom prst="rect">
            <a:avLst/>
          </a:prstGeom>
          <a:noFill/>
          <a:ln/>
        </p:spPr>
        <p:txBody>
          <a:bodyPr wrap="square" lIns="0" tIns="0" rIns="0" bIns="0" rtlCol="0" anchor="t"/>
          <a:lstStyle/>
          <a:p>
            <a:pPr indent="0" marL="0">
              <a:buNone/>
            </a:pPr>
            <a:r>
              <a:rPr lang="en-US" sz="1050" dirty="0">
                <a:solidFill>
                  <a:srgbClr val="C9D3BF"/>
                </a:solidFill>
                <a:latin typeface="Onest" pitchFamily="34" charset="0"/>
                <a:ea typeface="Onest" pitchFamily="34" charset="-122"/>
                <a:cs typeface="Onest" pitchFamily="34" charset="-120"/>
              </a:rPr>
              <a:t>Pick a country and a reason. We show the likely pathway, how long it takes and what you will need. Save it to get your full checklist.</a:t>
            </a:r>
            <a:endParaRPr lang="en-US" sz="1050" dirty="0"/>
          </a:p>
        </p:txBody>
      </p:sp>
      <p:sp>
        <p:nvSpPr>
          <p:cNvPr id="16" name="Text 10"/>
          <p:cNvSpPr txBox="1"/>
          <p:nvPr/>
        </p:nvSpPr>
        <p:spPr>
          <a:xfrm>
            <a:off x="457200" y="4160520"/>
            <a:ext cx="3200400" cy="365760"/>
          </a:xfrm>
          <a:prstGeom prst="rect">
            <a:avLst/>
          </a:prstGeom>
          <a:noFill/>
          <a:ln/>
        </p:spPr>
        <p:txBody>
          <a:bodyPr wrap="square" lIns="0" tIns="0" rIns="0" bIns="0" rtlCol="0" anchor="t"/>
          <a:lstStyle/>
          <a:p>
            <a:pPr indent="0" marL="0">
              <a:buNone/>
            </a:pPr>
            <a:r>
              <a:rPr lang="en-US" sz="800" dirty="0">
                <a:solidFill>
                  <a:srgbClr val="C9D3BF"/>
                </a:solidFill>
                <a:latin typeface="Onest" pitchFamily="34" charset="0"/>
                <a:ea typeface="Onest" pitchFamily="34" charset="-122"/>
                <a:cs typeface="Onest" pitchFamily="34" charset="-120"/>
              </a:rPr>
              <a:t>Sample guidance for this prototype. Final requirements depend on your situation and current rules.</a:t>
            </a:r>
            <a:endParaRPr lang="en-US" sz="800" dirty="0"/>
          </a:p>
        </p:txBody>
      </p:sp>
      <p:sp>
        <p:nvSpPr>
          <p:cNvPr id="17" name="Shape 11"/>
          <p:cNvSpPr/>
          <p:nvPr/>
        </p:nvSpPr>
        <p:spPr>
          <a:xfrm>
            <a:off x="4069080" y="960120"/>
            <a:ext cx="4617720" cy="3840480"/>
          </a:xfrm>
          <a:prstGeom prst="roundRect">
            <a:avLst>
              <a:gd name="adj" fmla="val 5238"/>
            </a:avLst>
          </a:prstGeom>
          <a:solidFill>
            <a:srgbClr val="F9F1F1"/>
          </a:solidFill>
          <a:ln w="12700">
            <a:solidFill>
              <a:srgbClr val="F9F1F1"/>
            </a:solidFill>
            <a:prstDash val="solid"/>
          </a:ln>
          <a:effectLst>
            <a:outerShdw sx="100000" sy="100000" kx="0" ky="0" algn="bl" rotWithShape="0" blurRad="228600" dist="76200" dir="5400000">
              <a:srgbClr val="000000">
                <a:alpha val="35000"/>
              </a:srgbClr>
            </a:outerShdw>
          </a:effectLst>
        </p:spPr>
      </p:sp>
      <p:sp>
        <p:nvSpPr>
          <p:cNvPr id="18" name="Shape 12"/>
          <p:cNvSpPr/>
          <p:nvPr/>
        </p:nvSpPr>
        <p:spPr>
          <a:xfrm>
            <a:off x="4297680" y="1188720"/>
            <a:ext cx="640080" cy="45720"/>
          </a:xfrm>
          <a:prstGeom prst="roundRect">
            <a:avLst>
              <a:gd name="adj" fmla="val 50000"/>
            </a:avLst>
          </a:prstGeom>
          <a:solidFill>
            <a:srgbClr val="B84747"/>
          </a:solidFill>
          <a:ln w="12700">
            <a:solidFill>
              <a:srgbClr val="B84747"/>
            </a:solidFill>
            <a:prstDash val="solid"/>
          </a:ln>
        </p:spPr>
      </p:sp>
      <p:sp>
        <p:nvSpPr>
          <p:cNvPr id="19" name="Shape 13"/>
          <p:cNvSpPr/>
          <p:nvPr/>
        </p:nvSpPr>
        <p:spPr>
          <a:xfrm>
            <a:off x="5001768" y="1188720"/>
            <a:ext cx="640080" cy="45720"/>
          </a:xfrm>
          <a:prstGeom prst="roundRect">
            <a:avLst>
              <a:gd name="adj" fmla="val 50000"/>
            </a:avLst>
          </a:prstGeom>
          <a:solidFill>
            <a:srgbClr val="D8A9A9"/>
          </a:solidFill>
          <a:ln w="12700">
            <a:solidFill>
              <a:srgbClr val="D8A9A9"/>
            </a:solidFill>
            <a:prstDash val="solid"/>
          </a:ln>
        </p:spPr>
      </p:sp>
      <p:sp>
        <p:nvSpPr>
          <p:cNvPr id="20" name="Shape 14"/>
          <p:cNvSpPr/>
          <p:nvPr/>
        </p:nvSpPr>
        <p:spPr>
          <a:xfrm>
            <a:off x="5705856" y="1188720"/>
            <a:ext cx="640080" cy="45720"/>
          </a:xfrm>
          <a:prstGeom prst="roundRect">
            <a:avLst>
              <a:gd name="adj" fmla="val 50000"/>
            </a:avLst>
          </a:prstGeom>
          <a:solidFill>
            <a:srgbClr val="D8A9A9"/>
          </a:solidFill>
          <a:ln w="12700">
            <a:solidFill>
              <a:srgbClr val="D8A9A9"/>
            </a:solidFill>
            <a:prstDash val="solid"/>
          </a:ln>
        </p:spPr>
      </p:sp>
      <p:sp>
        <p:nvSpPr>
          <p:cNvPr id="21" name="Shape 15"/>
          <p:cNvSpPr/>
          <p:nvPr/>
        </p:nvSpPr>
        <p:spPr>
          <a:xfrm>
            <a:off x="6409944" y="1188720"/>
            <a:ext cx="640080" cy="45720"/>
          </a:xfrm>
          <a:prstGeom prst="roundRect">
            <a:avLst>
              <a:gd name="adj" fmla="val 50000"/>
            </a:avLst>
          </a:prstGeom>
          <a:solidFill>
            <a:srgbClr val="D8A9A9"/>
          </a:solidFill>
          <a:ln w="12700">
            <a:solidFill>
              <a:srgbClr val="D8A9A9"/>
            </a:solidFill>
            <a:prstDash val="solid"/>
          </a:ln>
        </p:spPr>
      </p:sp>
      <p:sp>
        <p:nvSpPr>
          <p:cNvPr id="22" name="Shape 16"/>
          <p:cNvSpPr/>
          <p:nvPr/>
        </p:nvSpPr>
        <p:spPr>
          <a:xfrm>
            <a:off x="7114032" y="1188720"/>
            <a:ext cx="640080" cy="45720"/>
          </a:xfrm>
          <a:prstGeom prst="roundRect">
            <a:avLst>
              <a:gd name="adj" fmla="val 50000"/>
            </a:avLst>
          </a:prstGeom>
          <a:solidFill>
            <a:srgbClr val="D8A9A9"/>
          </a:solidFill>
          <a:ln w="12700">
            <a:solidFill>
              <a:srgbClr val="D8A9A9"/>
            </a:solidFill>
            <a:prstDash val="solid"/>
          </a:ln>
        </p:spPr>
      </p:sp>
      <p:sp>
        <p:nvSpPr>
          <p:cNvPr id="23" name="Shape 17"/>
          <p:cNvSpPr/>
          <p:nvPr/>
        </p:nvSpPr>
        <p:spPr>
          <a:xfrm>
            <a:off x="7818120" y="1188720"/>
            <a:ext cx="640080" cy="45720"/>
          </a:xfrm>
          <a:prstGeom prst="roundRect">
            <a:avLst>
              <a:gd name="adj" fmla="val 50000"/>
            </a:avLst>
          </a:prstGeom>
          <a:solidFill>
            <a:srgbClr val="D8A9A9"/>
          </a:solidFill>
          <a:ln w="12700">
            <a:solidFill>
              <a:srgbClr val="D8A9A9"/>
            </a:solidFill>
            <a:prstDash val="solid"/>
          </a:ln>
        </p:spPr>
      </p:sp>
      <p:sp>
        <p:nvSpPr>
          <p:cNvPr id="24" name="Text 18"/>
          <p:cNvSpPr txBox="1"/>
          <p:nvPr/>
        </p:nvSpPr>
        <p:spPr>
          <a:xfrm>
            <a:off x="4297680" y="1371600"/>
            <a:ext cx="1828800" cy="182880"/>
          </a:xfrm>
          <a:prstGeom prst="rect">
            <a:avLst/>
          </a:prstGeom>
          <a:noFill/>
          <a:ln/>
        </p:spPr>
        <p:txBody>
          <a:bodyPr wrap="square" lIns="0" tIns="0" rIns="0" bIns="0" rtlCol="0" anchor="t"/>
          <a:lstStyle/>
          <a:p>
            <a:pPr indent="0" marL="0">
              <a:buNone/>
            </a:pPr>
            <a:r>
              <a:rPr lang="en-US" sz="800" b="1" spc="150" kern="0" dirty="0">
                <a:solidFill>
                  <a:srgbClr val="5A2E2E"/>
                </a:solidFill>
                <a:latin typeface="Onest" pitchFamily="34" charset="0"/>
                <a:ea typeface="Onest" pitchFamily="34" charset="-122"/>
                <a:cs typeface="Onest" pitchFamily="34" charset="-120"/>
              </a:rPr>
              <a:t>STEP 1 OF 3</a:t>
            </a:r>
            <a:endParaRPr lang="en-US" sz="800" dirty="0"/>
          </a:p>
        </p:txBody>
      </p:sp>
      <p:sp>
        <p:nvSpPr>
          <p:cNvPr id="25" name="Text 19"/>
          <p:cNvSpPr txBox="1"/>
          <p:nvPr/>
        </p:nvSpPr>
        <p:spPr>
          <a:xfrm>
            <a:off x="4297680" y="1563624"/>
            <a:ext cx="4114800" cy="320040"/>
          </a:xfrm>
          <a:prstGeom prst="rect">
            <a:avLst/>
          </a:prstGeom>
          <a:noFill/>
          <a:ln/>
        </p:spPr>
        <p:txBody>
          <a:bodyPr wrap="square" lIns="0" tIns="0" rIns="0" bIns="0" rtlCol="0" anchor="t"/>
          <a:lstStyle/>
          <a:p>
            <a:pPr indent="0" marL="0">
              <a:buNone/>
            </a:pPr>
            <a:r>
              <a:rPr lang="en-US" sz="1400" b="1" dirty="0">
                <a:solidFill>
                  <a:srgbClr val="072011"/>
                </a:solidFill>
                <a:latin typeface="Unbounded" pitchFamily="34" charset="0"/>
                <a:ea typeface="Unbounded" pitchFamily="34" charset="-122"/>
                <a:cs typeface="Unbounded" pitchFamily="34" charset="-120"/>
              </a:rPr>
              <a:t>Where do you want to go?</a:t>
            </a:r>
            <a:endParaRPr lang="en-US" sz="1400" dirty="0"/>
          </a:p>
        </p:txBody>
      </p:sp>
      <p:sp>
        <p:nvSpPr>
          <p:cNvPr id="26" name="Shape 20"/>
          <p:cNvSpPr/>
          <p:nvPr/>
        </p:nvSpPr>
        <p:spPr>
          <a:xfrm>
            <a:off x="4297680" y="2011680"/>
            <a:ext cx="957834" cy="868680"/>
          </a:xfrm>
          <a:prstGeom prst="roundRect">
            <a:avLst>
              <a:gd name="adj" fmla="val 12632"/>
            </a:avLst>
          </a:prstGeom>
          <a:solidFill>
            <a:srgbClr val="072011"/>
          </a:solidFill>
          <a:ln w="15875">
            <a:solidFill>
              <a:srgbClr val="072011"/>
            </a:solidFill>
            <a:prstDash val="solid"/>
          </a:ln>
        </p:spPr>
      </p:sp>
      <p:pic>
        <p:nvPicPr>
          <p:cNvPr id="27" name="Image 4" descr="preencoded.png">    </p:cNvPr>
          <p:cNvPicPr>
            <a:picLocks noChangeAspect="1"/>
          </p:cNvPicPr>
          <p:nvPr/>
        </p:nvPicPr>
        <p:blipFill>
          <a:blip r:embed="rId5"/>
          <a:stretch>
            <a:fillRect/>
          </a:stretch>
        </p:blipFill>
        <p:spPr>
          <a:xfrm>
            <a:off x="4407408" y="2130552"/>
            <a:ext cx="274320" cy="182880"/>
          </a:xfrm>
          <a:prstGeom prst="rect">
            <a:avLst/>
          </a:prstGeom>
        </p:spPr>
      </p:pic>
      <p:sp>
        <p:nvSpPr>
          <p:cNvPr id="28" name="Text 21"/>
          <p:cNvSpPr txBox="1"/>
          <p:nvPr/>
        </p:nvSpPr>
        <p:spPr>
          <a:xfrm>
            <a:off x="4407408" y="2395728"/>
            <a:ext cx="774954" cy="201168"/>
          </a:xfrm>
          <a:prstGeom prst="rect">
            <a:avLst/>
          </a:prstGeom>
          <a:noFill/>
          <a:ln/>
        </p:spPr>
        <p:txBody>
          <a:bodyPr wrap="square" lIns="0" tIns="0" rIns="0" bIns="0" rtlCol="0" anchor="t"/>
          <a:lstStyle/>
          <a:p>
            <a:pPr indent="0" marL="0">
              <a:buNone/>
            </a:pPr>
            <a:r>
              <a:rPr lang="en-US" sz="1000" b="1" dirty="0">
                <a:solidFill>
                  <a:srgbClr val="FFFFFF"/>
                </a:solidFill>
                <a:latin typeface="Onest" pitchFamily="34" charset="0"/>
                <a:ea typeface="Onest" pitchFamily="34" charset="-122"/>
                <a:cs typeface="Onest" pitchFamily="34" charset="-120"/>
              </a:rPr>
              <a:t>Germany</a:t>
            </a:r>
            <a:endParaRPr lang="en-US" sz="1000" dirty="0"/>
          </a:p>
        </p:txBody>
      </p:sp>
      <p:sp>
        <p:nvSpPr>
          <p:cNvPr id="29" name="Text 22"/>
          <p:cNvSpPr txBox="1"/>
          <p:nvPr/>
        </p:nvSpPr>
        <p:spPr>
          <a:xfrm>
            <a:off x="4407408" y="2596896"/>
            <a:ext cx="811530" cy="182880"/>
          </a:xfrm>
          <a:prstGeom prst="rect">
            <a:avLst/>
          </a:prstGeom>
          <a:noFill/>
          <a:ln/>
        </p:spPr>
        <p:txBody>
          <a:bodyPr wrap="square" lIns="0" tIns="0" rIns="0" bIns="0" rtlCol="0" anchor="t"/>
          <a:lstStyle/>
          <a:p>
            <a:pPr indent="0" marL="0">
              <a:buNone/>
            </a:pPr>
            <a:r>
              <a:rPr lang="en-US" sz="750" dirty="0">
                <a:solidFill>
                  <a:srgbClr val="C9D3BF"/>
                </a:solidFill>
                <a:latin typeface="Onest" pitchFamily="34" charset="0"/>
                <a:ea typeface="Onest" pitchFamily="34" charset="-122"/>
                <a:cs typeface="Onest" pitchFamily="34" charset="-120"/>
              </a:rPr>
              <a:t>Berlin, Munich…</a:t>
            </a:r>
            <a:endParaRPr lang="en-US" sz="750" dirty="0"/>
          </a:p>
        </p:txBody>
      </p:sp>
      <p:sp>
        <p:nvSpPr>
          <p:cNvPr id="30" name="Shape 23"/>
          <p:cNvSpPr/>
          <p:nvPr/>
        </p:nvSpPr>
        <p:spPr>
          <a:xfrm>
            <a:off x="5365242" y="2011680"/>
            <a:ext cx="957834" cy="868680"/>
          </a:xfrm>
          <a:prstGeom prst="roundRect">
            <a:avLst>
              <a:gd name="adj" fmla="val 12632"/>
            </a:avLst>
          </a:prstGeom>
          <a:solidFill>
            <a:srgbClr val="FFFFFF"/>
          </a:solidFill>
          <a:ln w="15875">
            <a:solidFill>
              <a:srgbClr val="D8A9A9"/>
            </a:solidFill>
            <a:prstDash val="solid"/>
          </a:ln>
        </p:spPr>
      </p:sp>
      <p:pic>
        <p:nvPicPr>
          <p:cNvPr id="31" name="Image 5" descr="preencoded.png">    </p:cNvPr>
          <p:cNvPicPr>
            <a:picLocks noChangeAspect="1"/>
          </p:cNvPicPr>
          <p:nvPr/>
        </p:nvPicPr>
        <p:blipFill>
          <a:blip r:embed="rId6"/>
          <a:stretch>
            <a:fillRect/>
          </a:stretch>
        </p:blipFill>
        <p:spPr>
          <a:xfrm>
            <a:off x="5474970" y="2130552"/>
            <a:ext cx="274320" cy="182880"/>
          </a:xfrm>
          <a:prstGeom prst="rect">
            <a:avLst/>
          </a:prstGeom>
        </p:spPr>
      </p:pic>
      <p:sp>
        <p:nvSpPr>
          <p:cNvPr id="32" name="Text 24"/>
          <p:cNvSpPr txBox="1"/>
          <p:nvPr/>
        </p:nvSpPr>
        <p:spPr>
          <a:xfrm>
            <a:off x="5474970" y="2395728"/>
            <a:ext cx="774954" cy="201168"/>
          </a:xfrm>
          <a:prstGeom prst="rect">
            <a:avLst/>
          </a:prstGeom>
          <a:noFill/>
          <a:ln/>
        </p:spPr>
        <p:txBody>
          <a:bodyPr wrap="square" lIns="0" tIns="0" rIns="0" bIns="0" rtlCol="0" anchor="t"/>
          <a:lstStyle/>
          <a:p>
            <a:pPr indent="0" marL="0">
              <a:buNone/>
            </a:pPr>
            <a:r>
              <a:rPr lang="en-US" sz="1000" b="1" dirty="0">
                <a:solidFill>
                  <a:srgbClr val="0B2416"/>
                </a:solidFill>
                <a:latin typeface="Onest" pitchFamily="34" charset="0"/>
                <a:ea typeface="Onest" pitchFamily="34" charset="-122"/>
                <a:cs typeface="Onest" pitchFamily="34" charset="-120"/>
              </a:rPr>
              <a:t>Hungary</a:t>
            </a:r>
            <a:endParaRPr lang="en-US" sz="1000" dirty="0"/>
          </a:p>
        </p:txBody>
      </p:sp>
      <p:sp>
        <p:nvSpPr>
          <p:cNvPr id="33" name="Text 25"/>
          <p:cNvSpPr txBox="1"/>
          <p:nvPr/>
        </p:nvSpPr>
        <p:spPr>
          <a:xfrm>
            <a:off x="5474970" y="2596896"/>
            <a:ext cx="811530" cy="182880"/>
          </a:xfrm>
          <a:prstGeom prst="rect">
            <a:avLst/>
          </a:prstGeom>
          <a:noFill/>
          <a:ln/>
        </p:spPr>
        <p:txBody>
          <a:bodyPr wrap="square" lIns="0" tIns="0" rIns="0" bIns="0" rtlCol="0" anchor="t"/>
          <a:lstStyle/>
          <a:p>
            <a:pPr indent="0" marL="0">
              <a:buNone/>
            </a:pPr>
            <a:r>
              <a:rPr lang="en-US" sz="750" dirty="0">
                <a:solidFill>
                  <a:srgbClr val="5A2E2E"/>
                </a:solidFill>
                <a:latin typeface="Onest" pitchFamily="34" charset="0"/>
                <a:ea typeface="Onest" pitchFamily="34" charset="-122"/>
                <a:cs typeface="Onest" pitchFamily="34" charset="-120"/>
              </a:rPr>
              <a:t>Budapest, Szeged…</a:t>
            </a:r>
            <a:endParaRPr lang="en-US" sz="750" dirty="0"/>
          </a:p>
        </p:txBody>
      </p:sp>
      <p:sp>
        <p:nvSpPr>
          <p:cNvPr id="34" name="Shape 26"/>
          <p:cNvSpPr/>
          <p:nvPr/>
        </p:nvSpPr>
        <p:spPr>
          <a:xfrm>
            <a:off x="6432804" y="2011680"/>
            <a:ext cx="957834" cy="868680"/>
          </a:xfrm>
          <a:prstGeom prst="roundRect">
            <a:avLst>
              <a:gd name="adj" fmla="val 12632"/>
            </a:avLst>
          </a:prstGeom>
          <a:solidFill>
            <a:srgbClr val="FFFFFF"/>
          </a:solidFill>
          <a:ln w="15875">
            <a:solidFill>
              <a:srgbClr val="D8A9A9"/>
            </a:solidFill>
            <a:prstDash val="solid"/>
          </a:ln>
        </p:spPr>
      </p:sp>
      <p:pic>
        <p:nvPicPr>
          <p:cNvPr id="35" name="Image 6" descr="preencoded.png">    </p:cNvPr>
          <p:cNvPicPr>
            <a:picLocks noChangeAspect="1"/>
          </p:cNvPicPr>
          <p:nvPr/>
        </p:nvPicPr>
        <p:blipFill>
          <a:blip r:embed="rId7"/>
          <a:stretch>
            <a:fillRect/>
          </a:stretch>
        </p:blipFill>
        <p:spPr>
          <a:xfrm>
            <a:off x="6542532" y="2130552"/>
            <a:ext cx="274320" cy="182880"/>
          </a:xfrm>
          <a:prstGeom prst="rect">
            <a:avLst/>
          </a:prstGeom>
        </p:spPr>
      </p:pic>
      <p:sp>
        <p:nvSpPr>
          <p:cNvPr id="36" name="Text 27"/>
          <p:cNvSpPr txBox="1"/>
          <p:nvPr/>
        </p:nvSpPr>
        <p:spPr>
          <a:xfrm>
            <a:off x="6542532" y="2395728"/>
            <a:ext cx="774954" cy="201168"/>
          </a:xfrm>
          <a:prstGeom prst="rect">
            <a:avLst/>
          </a:prstGeom>
          <a:noFill/>
          <a:ln/>
        </p:spPr>
        <p:txBody>
          <a:bodyPr wrap="square" lIns="0" tIns="0" rIns="0" bIns="0" rtlCol="0" anchor="t"/>
          <a:lstStyle/>
          <a:p>
            <a:pPr indent="0" marL="0">
              <a:buNone/>
            </a:pPr>
            <a:r>
              <a:rPr lang="en-US" sz="1000" b="1" dirty="0">
                <a:solidFill>
                  <a:srgbClr val="0B2416"/>
                </a:solidFill>
                <a:latin typeface="Onest" pitchFamily="34" charset="0"/>
                <a:ea typeface="Onest" pitchFamily="34" charset="-122"/>
                <a:cs typeface="Onest" pitchFamily="34" charset="-120"/>
              </a:rPr>
              <a:t>Netherlands</a:t>
            </a:r>
            <a:endParaRPr lang="en-US" sz="1000" dirty="0"/>
          </a:p>
        </p:txBody>
      </p:sp>
      <p:sp>
        <p:nvSpPr>
          <p:cNvPr id="37" name="Text 28"/>
          <p:cNvSpPr txBox="1"/>
          <p:nvPr/>
        </p:nvSpPr>
        <p:spPr>
          <a:xfrm>
            <a:off x="6542532" y="2596896"/>
            <a:ext cx="811530" cy="182880"/>
          </a:xfrm>
          <a:prstGeom prst="rect">
            <a:avLst/>
          </a:prstGeom>
          <a:noFill/>
          <a:ln/>
        </p:spPr>
        <p:txBody>
          <a:bodyPr wrap="square" lIns="0" tIns="0" rIns="0" bIns="0" rtlCol="0" anchor="t"/>
          <a:lstStyle/>
          <a:p>
            <a:pPr indent="0" marL="0">
              <a:buNone/>
            </a:pPr>
            <a:r>
              <a:rPr lang="en-US" sz="750" dirty="0">
                <a:solidFill>
                  <a:srgbClr val="5A2E2E"/>
                </a:solidFill>
                <a:latin typeface="Onest" pitchFamily="34" charset="0"/>
                <a:ea typeface="Onest" pitchFamily="34" charset="-122"/>
                <a:cs typeface="Onest" pitchFamily="34" charset="-120"/>
              </a:rPr>
              <a:t>Amsterdam, Delft…</a:t>
            </a:r>
            <a:endParaRPr lang="en-US" sz="750" dirty="0"/>
          </a:p>
        </p:txBody>
      </p:sp>
      <p:sp>
        <p:nvSpPr>
          <p:cNvPr id="38" name="Shape 29"/>
          <p:cNvSpPr/>
          <p:nvPr/>
        </p:nvSpPr>
        <p:spPr>
          <a:xfrm>
            <a:off x="7500366" y="2011680"/>
            <a:ext cx="957834" cy="868680"/>
          </a:xfrm>
          <a:prstGeom prst="roundRect">
            <a:avLst>
              <a:gd name="adj" fmla="val 12632"/>
            </a:avLst>
          </a:prstGeom>
          <a:solidFill>
            <a:srgbClr val="FFFFFF"/>
          </a:solidFill>
          <a:ln w="15875">
            <a:solidFill>
              <a:srgbClr val="D8A9A9"/>
            </a:solidFill>
            <a:prstDash val="solid"/>
          </a:ln>
        </p:spPr>
      </p:sp>
      <p:pic>
        <p:nvPicPr>
          <p:cNvPr id="39" name="Image 7" descr="preencoded.png">    </p:cNvPr>
          <p:cNvPicPr>
            <a:picLocks noChangeAspect="1"/>
          </p:cNvPicPr>
          <p:nvPr/>
        </p:nvPicPr>
        <p:blipFill>
          <a:blip r:embed="rId8"/>
          <a:stretch>
            <a:fillRect/>
          </a:stretch>
        </p:blipFill>
        <p:spPr>
          <a:xfrm>
            <a:off x="7610094" y="2130552"/>
            <a:ext cx="274320" cy="182880"/>
          </a:xfrm>
          <a:prstGeom prst="rect">
            <a:avLst/>
          </a:prstGeom>
        </p:spPr>
      </p:pic>
      <p:sp>
        <p:nvSpPr>
          <p:cNvPr id="40" name="Text 30"/>
          <p:cNvSpPr txBox="1"/>
          <p:nvPr/>
        </p:nvSpPr>
        <p:spPr>
          <a:xfrm>
            <a:off x="7610094" y="2395728"/>
            <a:ext cx="774954" cy="201168"/>
          </a:xfrm>
          <a:prstGeom prst="rect">
            <a:avLst/>
          </a:prstGeom>
          <a:noFill/>
          <a:ln/>
        </p:spPr>
        <p:txBody>
          <a:bodyPr wrap="square" lIns="0" tIns="0" rIns="0" bIns="0" rtlCol="0" anchor="t"/>
          <a:lstStyle/>
          <a:p>
            <a:pPr indent="0" marL="0">
              <a:buNone/>
            </a:pPr>
            <a:r>
              <a:rPr lang="en-US" sz="1000" b="1" dirty="0">
                <a:solidFill>
                  <a:srgbClr val="0B2416"/>
                </a:solidFill>
                <a:latin typeface="Onest" pitchFamily="34" charset="0"/>
                <a:ea typeface="Onest" pitchFamily="34" charset="-122"/>
                <a:cs typeface="Onest" pitchFamily="34" charset="-120"/>
              </a:rPr>
              <a:t>Austria</a:t>
            </a:r>
            <a:endParaRPr lang="en-US" sz="1000" dirty="0"/>
          </a:p>
        </p:txBody>
      </p:sp>
      <p:sp>
        <p:nvSpPr>
          <p:cNvPr id="41" name="Text 31"/>
          <p:cNvSpPr txBox="1"/>
          <p:nvPr/>
        </p:nvSpPr>
        <p:spPr>
          <a:xfrm>
            <a:off x="7610094" y="2596896"/>
            <a:ext cx="811530" cy="182880"/>
          </a:xfrm>
          <a:prstGeom prst="rect">
            <a:avLst/>
          </a:prstGeom>
          <a:noFill/>
          <a:ln/>
        </p:spPr>
        <p:txBody>
          <a:bodyPr wrap="square" lIns="0" tIns="0" rIns="0" bIns="0" rtlCol="0" anchor="t"/>
          <a:lstStyle/>
          <a:p>
            <a:pPr indent="0" marL="0">
              <a:buNone/>
            </a:pPr>
            <a:r>
              <a:rPr lang="en-US" sz="750" dirty="0">
                <a:solidFill>
                  <a:srgbClr val="5A2E2E"/>
                </a:solidFill>
                <a:latin typeface="Onest" pitchFamily="34" charset="0"/>
                <a:ea typeface="Onest" pitchFamily="34" charset="-122"/>
                <a:cs typeface="Onest" pitchFamily="34" charset="-120"/>
              </a:rPr>
              <a:t>Vienna, Graz…</a:t>
            </a:r>
            <a:endParaRPr lang="en-US" sz="750" dirty="0"/>
          </a:p>
        </p:txBody>
      </p:sp>
      <p:sp>
        <p:nvSpPr>
          <p:cNvPr id="42" name="Shape 32"/>
          <p:cNvSpPr/>
          <p:nvPr/>
        </p:nvSpPr>
        <p:spPr>
          <a:xfrm>
            <a:off x="4297680" y="2990088"/>
            <a:ext cx="957834" cy="868680"/>
          </a:xfrm>
          <a:prstGeom prst="roundRect">
            <a:avLst>
              <a:gd name="adj" fmla="val 12632"/>
            </a:avLst>
          </a:prstGeom>
          <a:solidFill>
            <a:srgbClr val="FFFFFF"/>
          </a:solidFill>
          <a:ln w="15875">
            <a:solidFill>
              <a:srgbClr val="D8A9A9"/>
            </a:solidFill>
            <a:prstDash val="solid"/>
          </a:ln>
        </p:spPr>
      </p:sp>
      <p:pic>
        <p:nvPicPr>
          <p:cNvPr id="43" name="Image 8" descr="preencoded.png">    </p:cNvPr>
          <p:cNvPicPr>
            <a:picLocks noChangeAspect="1"/>
          </p:cNvPicPr>
          <p:nvPr/>
        </p:nvPicPr>
        <p:blipFill>
          <a:blip r:embed="rId9"/>
          <a:stretch>
            <a:fillRect/>
          </a:stretch>
        </p:blipFill>
        <p:spPr>
          <a:xfrm>
            <a:off x="4407408" y="3108960"/>
            <a:ext cx="274320" cy="182880"/>
          </a:xfrm>
          <a:prstGeom prst="rect">
            <a:avLst/>
          </a:prstGeom>
        </p:spPr>
      </p:pic>
      <p:sp>
        <p:nvSpPr>
          <p:cNvPr id="44" name="Text 33"/>
          <p:cNvSpPr txBox="1"/>
          <p:nvPr/>
        </p:nvSpPr>
        <p:spPr>
          <a:xfrm>
            <a:off x="4407408" y="3374136"/>
            <a:ext cx="774954" cy="201168"/>
          </a:xfrm>
          <a:prstGeom prst="rect">
            <a:avLst/>
          </a:prstGeom>
          <a:noFill/>
          <a:ln/>
        </p:spPr>
        <p:txBody>
          <a:bodyPr wrap="square" lIns="0" tIns="0" rIns="0" bIns="0" rtlCol="0" anchor="t"/>
          <a:lstStyle/>
          <a:p>
            <a:pPr indent="0" marL="0">
              <a:buNone/>
            </a:pPr>
            <a:r>
              <a:rPr lang="en-US" sz="1000" b="1" dirty="0">
                <a:solidFill>
                  <a:srgbClr val="0B2416"/>
                </a:solidFill>
                <a:latin typeface="Onest" pitchFamily="34" charset="0"/>
                <a:ea typeface="Onest" pitchFamily="34" charset="-122"/>
                <a:cs typeface="Onest" pitchFamily="34" charset="-120"/>
              </a:rPr>
              <a:t>Poland</a:t>
            </a:r>
            <a:endParaRPr lang="en-US" sz="1000" dirty="0"/>
          </a:p>
        </p:txBody>
      </p:sp>
      <p:sp>
        <p:nvSpPr>
          <p:cNvPr id="45" name="Text 34"/>
          <p:cNvSpPr txBox="1"/>
          <p:nvPr/>
        </p:nvSpPr>
        <p:spPr>
          <a:xfrm>
            <a:off x="4407408" y="3575304"/>
            <a:ext cx="811530" cy="182880"/>
          </a:xfrm>
          <a:prstGeom prst="rect">
            <a:avLst/>
          </a:prstGeom>
          <a:noFill/>
          <a:ln/>
        </p:spPr>
        <p:txBody>
          <a:bodyPr wrap="square" lIns="0" tIns="0" rIns="0" bIns="0" rtlCol="0" anchor="t"/>
          <a:lstStyle/>
          <a:p>
            <a:pPr indent="0" marL="0">
              <a:buNone/>
            </a:pPr>
            <a:r>
              <a:rPr lang="en-US" sz="750" dirty="0">
                <a:solidFill>
                  <a:srgbClr val="5A2E2E"/>
                </a:solidFill>
                <a:latin typeface="Onest" pitchFamily="34" charset="0"/>
                <a:ea typeface="Onest" pitchFamily="34" charset="-122"/>
                <a:cs typeface="Onest" pitchFamily="34" charset="-120"/>
              </a:rPr>
              <a:t>Warsaw, Kraków…</a:t>
            </a:r>
            <a:endParaRPr lang="en-US" sz="750" dirty="0"/>
          </a:p>
        </p:txBody>
      </p:sp>
      <p:sp>
        <p:nvSpPr>
          <p:cNvPr id="46" name="Shape 35"/>
          <p:cNvSpPr/>
          <p:nvPr/>
        </p:nvSpPr>
        <p:spPr>
          <a:xfrm>
            <a:off x="5365242" y="2990088"/>
            <a:ext cx="957834" cy="868680"/>
          </a:xfrm>
          <a:prstGeom prst="roundRect">
            <a:avLst>
              <a:gd name="adj" fmla="val 12632"/>
            </a:avLst>
          </a:prstGeom>
          <a:solidFill>
            <a:srgbClr val="FFFFFF"/>
          </a:solidFill>
          <a:ln w="15875">
            <a:solidFill>
              <a:srgbClr val="D8A9A9"/>
            </a:solidFill>
            <a:prstDash val="solid"/>
          </a:ln>
        </p:spPr>
      </p:sp>
      <p:pic>
        <p:nvPicPr>
          <p:cNvPr id="47" name="Image 9" descr="preencoded.png">    </p:cNvPr>
          <p:cNvPicPr>
            <a:picLocks noChangeAspect="1"/>
          </p:cNvPicPr>
          <p:nvPr/>
        </p:nvPicPr>
        <p:blipFill>
          <a:blip r:embed="rId10"/>
          <a:stretch>
            <a:fillRect/>
          </a:stretch>
        </p:blipFill>
        <p:spPr>
          <a:xfrm>
            <a:off x="5474970" y="3108960"/>
            <a:ext cx="274320" cy="182880"/>
          </a:xfrm>
          <a:prstGeom prst="rect">
            <a:avLst/>
          </a:prstGeom>
        </p:spPr>
      </p:pic>
      <p:sp>
        <p:nvSpPr>
          <p:cNvPr id="48" name="Text 36"/>
          <p:cNvSpPr txBox="1"/>
          <p:nvPr/>
        </p:nvSpPr>
        <p:spPr>
          <a:xfrm>
            <a:off x="5474970" y="3374136"/>
            <a:ext cx="774954" cy="201168"/>
          </a:xfrm>
          <a:prstGeom prst="rect">
            <a:avLst/>
          </a:prstGeom>
          <a:noFill/>
          <a:ln/>
        </p:spPr>
        <p:txBody>
          <a:bodyPr wrap="square" lIns="0" tIns="0" rIns="0" bIns="0" rtlCol="0" anchor="t"/>
          <a:lstStyle/>
          <a:p>
            <a:pPr indent="0" marL="0">
              <a:buNone/>
            </a:pPr>
            <a:r>
              <a:rPr lang="en-US" sz="1000" b="1" dirty="0">
                <a:solidFill>
                  <a:srgbClr val="0B2416"/>
                </a:solidFill>
                <a:latin typeface="Onest" pitchFamily="34" charset="0"/>
                <a:ea typeface="Onest" pitchFamily="34" charset="-122"/>
                <a:cs typeface="Onest" pitchFamily="34" charset="-120"/>
              </a:rPr>
              <a:t>Spain</a:t>
            </a:r>
            <a:endParaRPr lang="en-US" sz="1000" dirty="0"/>
          </a:p>
        </p:txBody>
      </p:sp>
      <p:sp>
        <p:nvSpPr>
          <p:cNvPr id="49" name="Text 37"/>
          <p:cNvSpPr txBox="1"/>
          <p:nvPr/>
        </p:nvSpPr>
        <p:spPr>
          <a:xfrm>
            <a:off x="5474970" y="3575304"/>
            <a:ext cx="811530" cy="182880"/>
          </a:xfrm>
          <a:prstGeom prst="rect">
            <a:avLst/>
          </a:prstGeom>
          <a:noFill/>
          <a:ln/>
        </p:spPr>
        <p:txBody>
          <a:bodyPr wrap="square" lIns="0" tIns="0" rIns="0" bIns="0" rtlCol="0" anchor="t"/>
          <a:lstStyle/>
          <a:p>
            <a:pPr indent="0" marL="0">
              <a:buNone/>
            </a:pPr>
            <a:r>
              <a:rPr lang="en-US" sz="750" dirty="0">
                <a:solidFill>
                  <a:srgbClr val="5A2E2E"/>
                </a:solidFill>
                <a:latin typeface="Onest" pitchFamily="34" charset="0"/>
                <a:ea typeface="Onest" pitchFamily="34" charset="-122"/>
                <a:cs typeface="Onest" pitchFamily="34" charset="-120"/>
              </a:rPr>
              <a:t>Madrid, Barcelona…</a:t>
            </a:r>
            <a:endParaRPr lang="en-US" sz="750" dirty="0"/>
          </a:p>
        </p:txBody>
      </p:sp>
      <p:sp>
        <p:nvSpPr>
          <p:cNvPr id="50" name="Shape 38"/>
          <p:cNvSpPr/>
          <p:nvPr/>
        </p:nvSpPr>
        <p:spPr>
          <a:xfrm>
            <a:off x="6432804" y="2990088"/>
            <a:ext cx="957834" cy="868680"/>
          </a:xfrm>
          <a:prstGeom prst="roundRect">
            <a:avLst>
              <a:gd name="adj" fmla="val 12632"/>
            </a:avLst>
          </a:prstGeom>
          <a:solidFill>
            <a:srgbClr val="FFFFFF"/>
          </a:solidFill>
          <a:ln w="15875">
            <a:solidFill>
              <a:srgbClr val="D8A9A9"/>
            </a:solidFill>
            <a:prstDash val="solid"/>
          </a:ln>
        </p:spPr>
      </p:sp>
      <p:pic>
        <p:nvPicPr>
          <p:cNvPr id="51" name="Image 10" descr="preencoded.png">    </p:cNvPr>
          <p:cNvPicPr>
            <a:picLocks noChangeAspect="1"/>
          </p:cNvPicPr>
          <p:nvPr/>
        </p:nvPicPr>
        <p:blipFill>
          <a:blip r:embed="rId11"/>
          <a:stretch>
            <a:fillRect/>
          </a:stretch>
        </p:blipFill>
        <p:spPr>
          <a:xfrm>
            <a:off x="6542532" y="3108960"/>
            <a:ext cx="274320" cy="182880"/>
          </a:xfrm>
          <a:prstGeom prst="rect">
            <a:avLst/>
          </a:prstGeom>
        </p:spPr>
      </p:pic>
      <p:sp>
        <p:nvSpPr>
          <p:cNvPr id="52" name="Text 39"/>
          <p:cNvSpPr txBox="1"/>
          <p:nvPr/>
        </p:nvSpPr>
        <p:spPr>
          <a:xfrm>
            <a:off x="6542532" y="3374136"/>
            <a:ext cx="774954" cy="201168"/>
          </a:xfrm>
          <a:prstGeom prst="rect">
            <a:avLst/>
          </a:prstGeom>
          <a:noFill/>
          <a:ln/>
        </p:spPr>
        <p:txBody>
          <a:bodyPr wrap="square" lIns="0" tIns="0" rIns="0" bIns="0" rtlCol="0" anchor="t"/>
          <a:lstStyle/>
          <a:p>
            <a:pPr indent="0" marL="0">
              <a:buNone/>
            </a:pPr>
            <a:r>
              <a:rPr lang="en-US" sz="1000" b="1" dirty="0">
                <a:solidFill>
                  <a:srgbClr val="0B2416"/>
                </a:solidFill>
                <a:latin typeface="Onest" pitchFamily="34" charset="0"/>
                <a:ea typeface="Onest" pitchFamily="34" charset="-122"/>
                <a:cs typeface="Onest" pitchFamily="34" charset="-120"/>
              </a:rPr>
              <a:t>France</a:t>
            </a:r>
            <a:endParaRPr lang="en-US" sz="1000" dirty="0"/>
          </a:p>
        </p:txBody>
      </p:sp>
      <p:sp>
        <p:nvSpPr>
          <p:cNvPr id="53" name="Text 40"/>
          <p:cNvSpPr txBox="1"/>
          <p:nvPr/>
        </p:nvSpPr>
        <p:spPr>
          <a:xfrm>
            <a:off x="6542532" y="3575304"/>
            <a:ext cx="811530" cy="182880"/>
          </a:xfrm>
          <a:prstGeom prst="rect">
            <a:avLst/>
          </a:prstGeom>
          <a:noFill/>
          <a:ln/>
        </p:spPr>
        <p:txBody>
          <a:bodyPr wrap="square" lIns="0" tIns="0" rIns="0" bIns="0" rtlCol="0" anchor="t"/>
          <a:lstStyle/>
          <a:p>
            <a:pPr indent="0" marL="0">
              <a:buNone/>
            </a:pPr>
            <a:r>
              <a:rPr lang="en-US" sz="750" dirty="0">
                <a:solidFill>
                  <a:srgbClr val="5A2E2E"/>
                </a:solidFill>
                <a:latin typeface="Onest" pitchFamily="34" charset="0"/>
                <a:ea typeface="Onest" pitchFamily="34" charset="-122"/>
                <a:cs typeface="Onest" pitchFamily="34" charset="-120"/>
              </a:rPr>
              <a:t>Paris, Lyon…</a:t>
            </a:r>
            <a:endParaRPr lang="en-US" sz="750" dirty="0"/>
          </a:p>
        </p:txBody>
      </p:sp>
      <p:sp>
        <p:nvSpPr>
          <p:cNvPr id="54" name="Shape 41"/>
          <p:cNvSpPr/>
          <p:nvPr/>
        </p:nvSpPr>
        <p:spPr>
          <a:xfrm>
            <a:off x="7500366" y="2990088"/>
            <a:ext cx="957834" cy="868680"/>
          </a:xfrm>
          <a:prstGeom prst="roundRect">
            <a:avLst>
              <a:gd name="adj" fmla="val 12632"/>
            </a:avLst>
          </a:prstGeom>
          <a:solidFill>
            <a:srgbClr val="FFFFFF"/>
          </a:solidFill>
          <a:ln w="15875">
            <a:solidFill>
              <a:srgbClr val="D8A9A9"/>
            </a:solidFill>
            <a:prstDash val="solid"/>
          </a:ln>
        </p:spPr>
      </p:sp>
      <p:pic>
        <p:nvPicPr>
          <p:cNvPr id="55" name="Image 11" descr="preencoded.png">    </p:cNvPr>
          <p:cNvPicPr>
            <a:picLocks noChangeAspect="1"/>
          </p:cNvPicPr>
          <p:nvPr/>
        </p:nvPicPr>
        <p:blipFill>
          <a:blip r:embed="rId12"/>
          <a:stretch>
            <a:fillRect/>
          </a:stretch>
        </p:blipFill>
        <p:spPr>
          <a:xfrm>
            <a:off x="7610094" y="3108960"/>
            <a:ext cx="274320" cy="182880"/>
          </a:xfrm>
          <a:prstGeom prst="rect">
            <a:avLst/>
          </a:prstGeom>
        </p:spPr>
      </p:pic>
      <p:sp>
        <p:nvSpPr>
          <p:cNvPr id="56" name="Text 42"/>
          <p:cNvSpPr txBox="1"/>
          <p:nvPr/>
        </p:nvSpPr>
        <p:spPr>
          <a:xfrm>
            <a:off x="7610094" y="3374136"/>
            <a:ext cx="774954" cy="201168"/>
          </a:xfrm>
          <a:prstGeom prst="rect">
            <a:avLst/>
          </a:prstGeom>
          <a:noFill/>
          <a:ln/>
        </p:spPr>
        <p:txBody>
          <a:bodyPr wrap="square" lIns="0" tIns="0" rIns="0" bIns="0" rtlCol="0" anchor="t"/>
          <a:lstStyle/>
          <a:p>
            <a:pPr indent="0" marL="0">
              <a:buNone/>
            </a:pPr>
            <a:r>
              <a:rPr lang="en-US" sz="1000" b="1" dirty="0">
                <a:solidFill>
                  <a:srgbClr val="0B2416"/>
                </a:solidFill>
                <a:latin typeface="Onest" pitchFamily="34" charset="0"/>
                <a:ea typeface="Onest" pitchFamily="34" charset="-122"/>
                <a:cs typeface="Onest" pitchFamily="34" charset="-120"/>
              </a:rPr>
              <a:t>Italy</a:t>
            </a:r>
            <a:endParaRPr lang="en-US" sz="1000" dirty="0"/>
          </a:p>
        </p:txBody>
      </p:sp>
      <p:sp>
        <p:nvSpPr>
          <p:cNvPr id="57" name="Text 43"/>
          <p:cNvSpPr txBox="1"/>
          <p:nvPr/>
        </p:nvSpPr>
        <p:spPr>
          <a:xfrm>
            <a:off x="7610094" y="3575304"/>
            <a:ext cx="811530" cy="182880"/>
          </a:xfrm>
          <a:prstGeom prst="rect">
            <a:avLst/>
          </a:prstGeom>
          <a:noFill/>
          <a:ln/>
        </p:spPr>
        <p:txBody>
          <a:bodyPr wrap="square" lIns="0" tIns="0" rIns="0" bIns="0" rtlCol="0" anchor="t"/>
          <a:lstStyle/>
          <a:p>
            <a:pPr indent="0" marL="0">
              <a:buNone/>
            </a:pPr>
            <a:r>
              <a:rPr lang="en-US" sz="750" dirty="0">
                <a:solidFill>
                  <a:srgbClr val="5A2E2E"/>
                </a:solidFill>
                <a:latin typeface="Onest" pitchFamily="34" charset="0"/>
                <a:ea typeface="Onest" pitchFamily="34" charset="-122"/>
                <a:cs typeface="Onest" pitchFamily="34" charset="-120"/>
              </a:rPr>
              <a:t>Milan, Bologna…</a:t>
            </a:r>
            <a:endParaRPr lang="en-US" sz="750" dirty="0"/>
          </a:p>
        </p:txBody>
      </p:sp>
      <p:sp>
        <p:nvSpPr>
          <p:cNvPr id="58" name="Text 44"/>
          <p:cNvSpPr txBox="1"/>
          <p:nvPr/>
        </p:nvSpPr>
        <p:spPr>
          <a:xfrm>
            <a:off x="4297680" y="4233672"/>
            <a:ext cx="914400" cy="365760"/>
          </a:xfrm>
          <a:prstGeom prst="rect">
            <a:avLst/>
          </a:prstGeom>
          <a:noFill/>
          <a:ln/>
        </p:spPr>
        <p:txBody>
          <a:bodyPr wrap="square" lIns="0" tIns="0" rIns="0" bIns="0" rtlCol="0" anchor="ctr"/>
          <a:lstStyle/>
          <a:p>
            <a:pPr indent="0" marL="0">
              <a:buNone/>
            </a:pPr>
            <a:r>
              <a:rPr lang="en-US" sz="1000" b="1" dirty="0">
                <a:solidFill>
                  <a:srgbClr val="072011">
                    <a:alpha val="40000"/>
                  </a:srgbClr>
                </a:solidFill>
                <a:latin typeface="Onest" pitchFamily="34" charset="0"/>
                <a:ea typeface="Onest" pitchFamily="34" charset="-122"/>
                <a:cs typeface="Onest" pitchFamily="34" charset="-120"/>
              </a:rPr>
              <a:t>← Back</a:t>
            </a:r>
            <a:endParaRPr lang="en-US" sz="1000" dirty="0"/>
          </a:p>
        </p:txBody>
      </p:sp>
      <p:sp>
        <p:nvSpPr>
          <p:cNvPr id="59" name="Text 45"/>
          <p:cNvSpPr/>
          <p:nvPr/>
        </p:nvSpPr>
        <p:spPr>
          <a:xfrm>
            <a:off x="7269480" y="4215384"/>
            <a:ext cx="1188720" cy="384048"/>
          </a:xfrm>
          <a:prstGeom prst="roundRect">
            <a:avLst>
              <a:gd name="adj" fmla="val 50000"/>
            </a:avLst>
          </a:prstGeom>
          <a:solidFill>
            <a:srgbClr val="B84747"/>
          </a:solidFill>
          <a:ln/>
        </p:spPr>
        <p:txBody>
          <a:bodyPr wrap="square" lIns="0" tIns="0" rIns="0" bIns="0" rtlCol="0" anchor="ctr"/>
          <a:lstStyle/>
          <a:p>
            <a:pPr algn="ctr" indent="0" marL="0">
              <a:buNone/>
            </a:pPr>
            <a:r>
              <a:rPr lang="en-US" sz="1100" b="1" dirty="0">
                <a:solidFill>
                  <a:srgbClr val="FFFFFF"/>
                </a:solidFill>
                <a:latin typeface="Onest" pitchFamily="34" charset="0"/>
                <a:ea typeface="Onest" pitchFamily="34" charset="-122"/>
                <a:cs typeface="Onest" pitchFamily="34" charset="-120"/>
              </a:rPr>
              <a:t>Continue</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3100A"/>
        </a:solidFill>
      </p:bgPr>
    </p:bg>
    <p:spTree>
      <p:nvGrpSpPr>
        <p:cNvPr id="1" name=""/>
        <p:cNvGrpSpPr/>
        <p:nvPr/>
      </p:nvGrpSpPr>
      <p:grpSpPr>
        <a:xfrm>
          <a:off x="0" y="0"/>
          <a:ext cx="0" cy="0"/>
          <a:chOff x="0" y="0"/>
          <a:chExt cx="0" cy="0"/>
        </a:xfrm>
      </p:grpSpPr>
      <p:pic>
        <p:nvPicPr>
          <p:cNvPr id="2" name="Image 0" descr="City lights seen from an aircraft at night">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0" y="0"/>
            <a:ext cx="9144000" cy="5143500"/>
          </a:xfrm>
          <a:prstGeom prst="rect">
            <a:avLst/>
          </a:prstGeom>
        </p:spPr>
      </p:pic>
      <p:pic>
        <p:nvPicPr>
          <p:cNvPr id="4" name="Image 2" descr="Unbound logo">    </p:cNvPr>
          <p:cNvPicPr>
            <a:picLocks noChangeAspect="1"/>
          </p:cNvPicPr>
          <p:nvPr/>
        </p:nvPicPr>
        <p:blipFill>
          <a:blip r:embed="rId3"/>
          <a:stretch>
            <a:fillRect/>
          </a:stretch>
        </p:blipFill>
        <p:spPr>
          <a:xfrm>
            <a:off x="457200" y="237744"/>
            <a:ext cx="329184" cy="329184"/>
          </a:xfrm>
          <a:prstGeom prst="rect">
            <a:avLst/>
          </a:prstGeom>
        </p:spPr>
      </p:pic>
      <p:sp>
        <p:nvSpPr>
          <p:cNvPr id="5" name="Text 0"/>
          <p:cNvSpPr txBox="1"/>
          <p:nvPr/>
        </p:nvSpPr>
        <p:spPr>
          <a:xfrm>
            <a:off x="859536" y="246888"/>
            <a:ext cx="1280160" cy="310896"/>
          </a:xfrm>
          <a:prstGeom prst="rect">
            <a:avLst/>
          </a:prstGeom>
          <a:noFill/>
          <a:ln/>
        </p:spPr>
        <p:txBody>
          <a:bodyPr wrap="square" lIns="0" tIns="0" rIns="0" bIns="0" rtlCol="0" anchor="ctr"/>
          <a:lstStyle/>
          <a:p>
            <a:pPr indent="0" marL="0">
              <a:buNone/>
            </a:pPr>
            <a:r>
              <a:rPr lang="en-US" sz="1500" b="1" dirty="0">
                <a:solidFill>
                  <a:srgbClr val="FFFFFF"/>
                </a:solidFill>
                <a:latin typeface="Unbounded" pitchFamily="34" charset="0"/>
                <a:ea typeface="Unbounded" pitchFamily="34" charset="-122"/>
                <a:cs typeface="Unbounded" pitchFamily="34" charset="-120"/>
              </a:rPr>
              <a:t>unbound</a:t>
            </a:r>
            <a:endParaRPr lang="en-US" sz="1500" dirty="0"/>
          </a:p>
        </p:txBody>
      </p:sp>
      <p:sp>
        <p:nvSpPr>
          <p:cNvPr id="6" name="Text 1"/>
          <p:cNvSpPr txBox="1"/>
          <p:nvPr/>
        </p:nvSpPr>
        <p:spPr>
          <a:xfrm>
            <a:off x="4709160" y="265176"/>
            <a:ext cx="960120" cy="274320"/>
          </a:xfrm>
          <a:prstGeom prst="rect">
            <a:avLst/>
          </a:prstGeom>
          <a:noFill/>
          <a:ln/>
        </p:spPr>
        <p:txBody>
          <a:bodyPr wrap="square" lIns="0" tIns="0" rIns="0" bIns="0" rtlCol="0" anchor="ctr"/>
          <a:lstStyle/>
          <a:p>
            <a:pPr algn="r" indent="0" marL="0">
              <a:buNone/>
            </a:pPr>
            <a:r>
              <a:rPr lang="en-US" sz="950" b="1" dirty="0">
                <a:solidFill>
                  <a:srgbClr val="FFFFFF"/>
                </a:solidFill>
                <a:latin typeface="Onest" pitchFamily="34" charset="0"/>
                <a:ea typeface="Onest" pitchFamily="34" charset="-122"/>
                <a:cs typeface="Onest" pitchFamily="34" charset="-120"/>
              </a:rPr>
              <a:t>For employers</a:t>
            </a:r>
            <a:endParaRPr lang="en-US" sz="950" dirty="0"/>
          </a:p>
        </p:txBody>
      </p:sp>
      <p:sp>
        <p:nvSpPr>
          <p:cNvPr id="7" name="Shape 2"/>
          <p:cNvSpPr/>
          <p:nvPr/>
        </p:nvSpPr>
        <p:spPr>
          <a:xfrm>
            <a:off x="5806440" y="246888"/>
            <a:ext cx="658368" cy="310896"/>
          </a:xfrm>
          <a:prstGeom prst="roundRect">
            <a:avLst>
              <a:gd name="adj" fmla="val 50000"/>
            </a:avLst>
          </a:prstGeom>
          <a:solidFill>
            <a:srgbClr val="03100A">
              <a:alpha val="40000"/>
            </a:srgbClr>
          </a:solidFill>
          <a:ln w="9525">
            <a:solidFill>
              <a:srgbClr val="FFFFFF">
                <a:alpha val="45000"/>
              </a:srgbClr>
            </a:solidFill>
            <a:prstDash val="solid"/>
          </a:ln>
        </p:spPr>
      </p:sp>
      <p:pic>
        <p:nvPicPr>
          <p:cNvPr id="8" name="Image 3" descr="preencoded.png">    </p:cNvPr>
          <p:cNvPicPr>
            <a:picLocks noChangeAspect="1"/>
          </p:cNvPicPr>
          <p:nvPr/>
        </p:nvPicPr>
        <p:blipFill>
          <a:blip r:embed="rId4"/>
          <a:stretch>
            <a:fillRect/>
          </a:stretch>
        </p:blipFill>
        <p:spPr>
          <a:xfrm>
            <a:off x="5907024" y="333756"/>
            <a:ext cx="192024" cy="128016"/>
          </a:xfrm>
          <a:prstGeom prst="rect">
            <a:avLst/>
          </a:prstGeom>
        </p:spPr>
      </p:pic>
      <p:sp>
        <p:nvSpPr>
          <p:cNvPr id="9" name="Text 3"/>
          <p:cNvSpPr txBox="1"/>
          <p:nvPr/>
        </p:nvSpPr>
        <p:spPr>
          <a:xfrm>
            <a:off x="6135624" y="265176"/>
            <a:ext cx="274320" cy="274320"/>
          </a:xfrm>
          <a:prstGeom prst="rect">
            <a:avLst/>
          </a:prstGeom>
          <a:noFill/>
          <a:ln/>
        </p:spPr>
        <p:txBody>
          <a:bodyPr wrap="square" lIns="0" tIns="0" rIns="0" bIns="0" rtlCol="0" anchor="ctr"/>
          <a:lstStyle/>
          <a:p>
            <a:pPr indent="0" marL="0">
              <a:buNone/>
            </a:pPr>
            <a:r>
              <a:rPr lang="en-US" sz="950" b="1" dirty="0">
                <a:solidFill>
                  <a:srgbClr val="FFFFFF"/>
                </a:solidFill>
                <a:latin typeface="Onest" pitchFamily="34" charset="0"/>
                <a:ea typeface="Onest" pitchFamily="34" charset="-122"/>
                <a:cs typeface="Onest" pitchFamily="34" charset="-120"/>
              </a:rPr>
              <a:t>EN</a:t>
            </a:r>
            <a:endParaRPr lang="en-US" sz="950" dirty="0"/>
          </a:p>
        </p:txBody>
      </p:sp>
      <p:sp>
        <p:nvSpPr>
          <p:cNvPr id="10" name="Shape 4"/>
          <p:cNvSpPr/>
          <p:nvPr/>
        </p:nvSpPr>
        <p:spPr>
          <a:xfrm>
            <a:off x="6537960" y="246888"/>
            <a:ext cx="310896" cy="310896"/>
          </a:xfrm>
          <a:prstGeom prst="ellipse">
            <a:avLst/>
          </a:prstGeom>
          <a:solidFill>
            <a:srgbClr val="03100A">
              <a:alpha val="40000"/>
            </a:srgbClr>
          </a:solidFill>
          <a:ln w="9525">
            <a:solidFill>
              <a:srgbClr val="FFFFFF">
                <a:alpha val="45000"/>
              </a:srgbClr>
            </a:solidFill>
            <a:prstDash val="solid"/>
          </a:ln>
        </p:spPr>
      </p:sp>
      <p:pic>
        <p:nvPicPr>
          <p:cNvPr id="11" name="Image 4" descr="Help">    </p:cNvPr>
          <p:cNvPicPr>
            <a:picLocks noChangeAspect="1"/>
          </p:cNvPicPr>
          <p:nvPr/>
        </p:nvPicPr>
        <p:blipFill>
          <a:blip r:embed="rId5"/>
          <a:stretch>
            <a:fillRect/>
          </a:stretch>
        </p:blipFill>
        <p:spPr>
          <a:xfrm>
            <a:off x="6601968" y="310896"/>
            <a:ext cx="182880" cy="182880"/>
          </a:xfrm>
          <a:prstGeom prst="rect">
            <a:avLst/>
          </a:prstGeom>
        </p:spPr>
      </p:pic>
      <p:pic>
        <p:nvPicPr>
          <p:cNvPr id="12" name="Image 5" descr="preencoded.png">    </p:cNvPr>
          <p:cNvPicPr>
            <a:picLocks noChangeAspect="1"/>
          </p:cNvPicPr>
          <p:nvPr/>
        </p:nvPicPr>
        <p:blipFill>
          <a:blip r:embed="rId6"/>
          <a:stretch>
            <a:fillRect/>
          </a:stretch>
        </p:blipFill>
        <p:spPr>
          <a:xfrm>
            <a:off x="6949440" y="315468"/>
            <a:ext cx="173736" cy="173736"/>
          </a:xfrm>
          <a:prstGeom prst="rect">
            <a:avLst/>
          </a:prstGeom>
        </p:spPr>
      </p:pic>
      <p:sp>
        <p:nvSpPr>
          <p:cNvPr id="13" name="Text 5"/>
          <p:cNvSpPr txBox="1"/>
          <p:nvPr/>
        </p:nvSpPr>
        <p:spPr>
          <a:xfrm>
            <a:off x="7159752" y="265176"/>
            <a:ext cx="502920" cy="274320"/>
          </a:xfrm>
          <a:prstGeom prst="rect">
            <a:avLst/>
          </a:prstGeom>
          <a:noFill/>
          <a:ln/>
        </p:spPr>
        <p:txBody>
          <a:bodyPr wrap="square" lIns="0" tIns="0" rIns="0" bIns="0" rtlCol="0" anchor="ctr"/>
          <a:lstStyle/>
          <a:p>
            <a:pPr indent="0" marL="0">
              <a:buNone/>
            </a:pPr>
            <a:r>
              <a:rPr lang="en-US" sz="950" b="1" dirty="0">
                <a:solidFill>
                  <a:srgbClr val="FFFFFF"/>
                </a:solidFill>
                <a:latin typeface="Onest" pitchFamily="34" charset="0"/>
                <a:ea typeface="Onest" pitchFamily="34" charset="-122"/>
                <a:cs typeface="Onest" pitchFamily="34" charset="-120"/>
              </a:rPr>
              <a:t>Log in</a:t>
            </a:r>
            <a:endParaRPr lang="en-US" sz="950" dirty="0"/>
          </a:p>
        </p:txBody>
      </p:sp>
      <p:sp>
        <p:nvSpPr>
          <p:cNvPr id="14" name="Text 6"/>
          <p:cNvSpPr/>
          <p:nvPr/>
        </p:nvSpPr>
        <p:spPr>
          <a:xfrm>
            <a:off x="7772400" y="237744"/>
            <a:ext cx="914400" cy="329184"/>
          </a:xfrm>
          <a:prstGeom prst="roundRect">
            <a:avLst>
              <a:gd name="adj" fmla="val 50000"/>
            </a:avLst>
          </a:prstGeom>
          <a:solidFill>
            <a:srgbClr val="B84747"/>
          </a:solidFill>
          <a:ln/>
        </p:spPr>
        <p:txBody>
          <a:bodyPr wrap="square" lIns="0" tIns="0" rIns="0" bIns="0" rtlCol="0" anchor="ctr"/>
          <a:lstStyle/>
          <a:p>
            <a:pPr algn="ctr" indent="0" marL="0">
              <a:buNone/>
            </a:pPr>
            <a:r>
              <a:rPr lang="en-US" sz="1000" b="1" dirty="0">
                <a:solidFill>
                  <a:srgbClr val="FFFFFF"/>
                </a:solidFill>
                <a:latin typeface="Onest" pitchFamily="34" charset="0"/>
                <a:ea typeface="Onest" pitchFamily="34" charset="-122"/>
                <a:cs typeface="Onest" pitchFamily="34" charset="-120"/>
              </a:rPr>
              <a:t>Sign up</a:t>
            </a:r>
            <a:endParaRPr lang="en-US" sz="1000" dirty="0"/>
          </a:p>
        </p:txBody>
      </p:sp>
      <p:sp>
        <p:nvSpPr>
          <p:cNvPr id="15" name="Text 7"/>
          <p:cNvSpPr txBox="1"/>
          <p:nvPr/>
        </p:nvSpPr>
        <p:spPr>
          <a:xfrm>
            <a:off x="457200" y="868680"/>
            <a:ext cx="2743200" cy="228600"/>
          </a:xfrm>
          <a:prstGeom prst="rect">
            <a:avLst/>
          </a:prstGeom>
          <a:noFill/>
          <a:ln/>
        </p:spPr>
        <p:txBody>
          <a:bodyPr wrap="square" lIns="0" tIns="0" rIns="0" bIns="0" rtlCol="0" anchor="t"/>
          <a:lstStyle/>
          <a:p>
            <a:pPr indent="0" marL="0">
              <a:buNone/>
            </a:pPr>
            <a:r>
              <a:rPr lang="en-US" sz="900" b="1" spc="200" kern="0" dirty="0">
                <a:solidFill>
                  <a:srgbClr val="E89A9A"/>
                </a:solidFill>
                <a:latin typeface="Onest" pitchFamily="34" charset="0"/>
                <a:ea typeface="Onest" pitchFamily="34" charset="-122"/>
                <a:cs typeface="Onest" pitchFamily="34" charset="-120"/>
              </a:rPr>
              <a:t>NEW ON UNBOUND</a:t>
            </a:r>
            <a:endParaRPr lang="en-US" sz="900" dirty="0"/>
          </a:p>
        </p:txBody>
      </p:sp>
      <p:sp>
        <p:nvSpPr>
          <p:cNvPr id="16" name="Text 8"/>
          <p:cNvSpPr txBox="1"/>
          <p:nvPr/>
        </p:nvSpPr>
        <p:spPr>
          <a:xfrm>
            <a:off x="457200" y="1097280"/>
            <a:ext cx="5852160" cy="566928"/>
          </a:xfrm>
          <a:prstGeom prst="rect">
            <a:avLst/>
          </a:prstGeom>
          <a:noFill/>
          <a:ln/>
        </p:spPr>
        <p:txBody>
          <a:bodyPr wrap="square" lIns="0" tIns="0" rIns="0" bIns="0" rtlCol="0" anchor="t"/>
          <a:lstStyle/>
          <a:p>
            <a:pPr indent="0" marL="0">
              <a:buNone/>
            </a:pPr>
            <a:r>
              <a:rPr lang="en-US" sz="2000" b="1" dirty="0">
                <a:solidFill>
                  <a:srgbClr val="FFFFFF"/>
                </a:solidFill>
                <a:latin typeface="Unbounded" pitchFamily="34" charset="0"/>
                <a:ea typeface="Unbounded" pitchFamily="34" charset="-122"/>
                <a:cs typeface="Unbounded" pitchFamily="34" charset="-120"/>
              </a:rPr>
              <a:t>Built for the whole journey, not just the visa.</a:t>
            </a:r>
            <a:endParaRPr lang="en-US" sz="2000" dirty="0"/>
          </a:p>
        </p:txBody>
      </p:sp>
      <p:sp>
        <p:nvSpPr>
          <p:cNvPr id="17" name="Shape 9"/>
          <p:cNvSpPr/>
          <p:nvPr/>
        </p:nvSpPr>
        <p:spPr>
          <a:xfrm>
            <a:off x="457200" y="1828800"/>
            <a:ext cx="2651760" cy="2240280"/>
          </a:xfrm>
          <a:prstGeom prst="roundRect">
            <a:avLst>
              <a:gd name="adj" fmla="val 7347"/>
            </a:avLst>
          </a:prstGeom>
          <a:solidFill>
            <a:srgbClr val="D8A9A9"/>
          </a:solidFill>
          <a:ln w="12700">
            <a:solidFill>
              <a:srgbClr val="D8A9A9"/>
            </a:solidFill>
            <a:prstDash val="solid"/>
          </a:ln>
        </p:spPr>
      </p:sp>
      <p:sp>
        <p:nvSpPr>
          <p:cNvPr id="18" name="Text 10"/>
          <p:cNvSpPr/>
          <p:nvPr/>
        </p:nvSpPr>
        <p:spPr>
          <a:xfrm>
            <a:off x="640080" y="1993392"/>
            <a:ext cx="457200" cy="201168"/>
          </a:xfrm>
          <a:prstGeom prst="roundRect">
            <a:avLst>
              <a:gd name="adj" fmla="val 50000"/>
            </a:avLst>
          </a:prstGeom>
          <a:solidFill>
            <a:srgbClr val="B84747"/>
          </a:solidFill>
          <a:ln/>
        </p:spPr>
        <p:txBody>
          <a:bodyPr wrap="square" lIns="0" tIns="0" rIns="0" bIns="0" rtlCol="0" anchor="ctr"/>
          <a:lstStyle/>
          <a:p>
            <a:pPr algn="ctr" indent="0" marL="0">
              <a:buNone/>
            </a:pPr>
            <a:r>
              <a:rPr lang="en-US" sz="750" b="1" dirty="0">
                <a:solidFill>
                  <a:srgbClr val="FFFFFF"/>
                </a:solidFill>
                <a:latin typeface="Onest" pitchFamily="34" charset="0"/>
                <a:ea typeface="Onest" pitchFamily="34" charset="-122"/>
                <a:cs typeface="Onest" pitchFamily="34" charset="-120"/>
              </a:rPr>
              <a:t>NEW</a:t>
            </a:r>
            <a:endParaRPr lang="en-US" sz="750" dirty="0"/>
          </a:p>
        </p:txBody>
      </p:sp>
      <p:sp>
        <p:nvSpPr>
          <p:cNvPr id="19" name="Text 11"/>
          <p:cNvSpPr txBox="1"/>
          <p:nvPr/>
        </p:nvSpPr>
        <p:spPr>
          <a:xfrm>
            <a:off x="640080" y="2267712"/>
            <a:ext cx="2286000" cy="274320"/>
          </a:xfrm>
          <a:prstGeom prst="rect">
            <a:avLst/>
          </a:prstGeom>
          <a:noFill/>
          <a:ln/>
        </p:spPr>
        <p:txBody>
          <a:bodyPr wrap="square" lIns="0" tIns="0" rIns="0" bIns="0" rtlCol="0" anchor="t"/>
          <a:lstStyle/>
          <a:p>
            <a:pPr indent="0" marL="0">
              <a:buNone/>
            </a:pPr>
            <a:r>
              <a:rPr lang="en-US" sz="1200" b="1" dirty="0">
                <a:solidFill>
                  <a:srgbClr val="072011"/>
                </a:solidFill>
                <a:latin typeface="Unbounded" pitchFamily="34" charset="0"/>
                <a:ea typeface="Unbounded" pitchFamily="34" charset="-122"/>
                <a:cs typeface="Unbounded" pitchFamily="34" charset="-120"/>
              </a:rPr>
              <a:t>AI document check</a:t>
            </a:r>
            <a:endParaRPr lang="en-US" sz="1200" dirty="0"/>
          </a:p>
        </p:txBody>
      </p:sp>
      <p:sp>
        <p:nvSpPr>
          <p:cNvPr id="20" name="Text 12"/>
          <p:cNvSpPr txBox="1"/>
          <p:nvPr/>
        </p:nvSpPr>
        <p:spPr>
          <a:xfrm>
            <a:off x="640080" y="2560320"/>
            <a:ext cx="2286000" cy="457200"/>
          </a:xfrm>
          <a:prstGeom prst="rect">
            <a:avLst/>
          </a:prstGeom>
          <a:noFill/>
          <a:ln/>
        </p:spPr>
        <p:txBody>
          <a:bodyPr wrap="square" lIns="0" tIns="0" rIns="0" bIns="0" rtlCol="0" anchor="t"/>
          <a:lstStyle/>
          <a:p>
            <a:pPr indent="0" marL="0">
              <a:buNone/>
            </a:pPr>
            <a:r>
              <a:rPr lang="en-US" sz="850" dirty="0">
                <a:solidFill>
                  <a:srgbClr val="5A2E2E"/>
                </a:solidFill>
                <a:latin typeface="Onest" pitchFamily="34" charset="0"/>
                <a:ea typeface="Onest" pitchFamily="34" charset="-122"/>
                <a:cs typeface="Onest" pitchFamily="34" charset="-120"/>
              </a:rPr>
              <a:t>Checks names, dates, issue window and format against your case before the office does.</a:t>
            </a:r>
            <a:endParaRPr lang="en-US" sz="850" dirty="0"/>
          </a:p>
        </p:txBody>
      </p:sp>
      <p:sp>
        <p:nvSpPr>
          <p:cNvPr id="21" name="Shape 13"/>
          <p:cNvSpPr/>
          <p:nvPr/>
        </p:nvSpPr>
        <p:spPr>
          <a:xfrm>
            <a:off x="640080" y="3090672"/>
            <a:ext cx="2286000" cy="841248"/>
          </a:xfrm>
          <a:prstGeom prst="roundRect">
            <a:avLst>
              <a:gd name="adj" fmla="val 10870"/>
            </a:avLst>
          </a:prstGeom>
          <a:solidFill>
            <a:srgbClr val="FFFFFF"/>
          </a:solidFill>
          <a:ln w="12700">
            <a:solidFill>
              <a:srgbClr val="FFFFFF"/>
            </a:solidFill>
            <a:prstDash val="solid"/>
          </a:ln>
        </p:spPr>
      </p:sp>
      <p:sp>
        <p:nvSpPr>
          <p:cNvPr id="22" name="Text 14"/>
          <p:cNvSpPr txBox="1"/>
          <p:nvPr/>
        </p:nvSpPr>
        <p:spPr>
          <a:xfrm>
            <a:off x="749808" y="3172968"/>
            <a:ext cx="1005840" cy="201168"/>
          </a:xfrm>
          <a:prstGeom prst="rect">
            <a:avLst/>
          </a:prstGeom>
          <a:noFill/>
          <a:ln/>
        </p:spPr>
        <p:txBody>
          <a:bodyPr wrap="square" lIns="0" tIns="0" rIns="0" bIns="0" rtlCol="0" anchor="ctr"/>
          <a:lstStyle/>
          <a:p>
            <a:pPr indent="0" marL="0">
              <a:buNone/>
            </a:pPr>
            <a:r>
              <a:rPr lang="en-US" sz="800" b="1" dirty="0">
                <a:solidFill>
                  <a:srgbClr val="072011"/>
                </a:solidFill>
                <a:latin typeface="Unbounded" pitchFamily="34" charset="0"/>
                <a:ea typeface="Unbounded" pitchFamily="34" charset="-122"/>
                <a:cs typeface="Unbounded" pitchFamily="34" charset="-120"/>
              </a:rPr>
              <a:t>Passport</a:t>
            </a:r>
            <a:endParaRPr lang="en-US" sz="800" dirty="0"/>
          </a:p>
        </p:txBody>
      </p:sp>
      <p:sp>
        <p:nvSpPr>
          <p:cNvPr id="23" name="Text 15"/>
          <p:cNvSpPr/>
          <p:nvPr/>
        </p:nvSpPr>
        <p:spPr>
          <a:xfrm>
            <a:off x="1874520" y="3182112"/>
            <a:ext cx="960120" cy="182880"/>
          </a:xfrm>
          <a:prstGeom prst="roundRect">
            <a:avLst>
              <a:gd name="adj" fmla="val 50000"/>
            </a:avLst>
          </a:prstGeom>
          <a:solidFill>
            <a:srgbClr val="E1F0E6"/>
          </a:solidFill>
          <a:ln/>
        </p:spPr>
        <p:txBody>
          <a:bodyPr wrap="square" lIns="0" tIns="0" rIns="0" bIns="0" rtlCol="0" anchor="ctr"/>
          <a:lstStyle/>
          <a:p>
            <a:pPr algn="ctr" indent="0" marL="0">
              <a:buNone/>
            </a:pPr>
            <a:r>
              <a:rPr lang="en-US" sz="700" b="1" dirty="0">
                <a:solidFill>
                  <a:srgbClr val="24683F"/>
                </a:solidFill>
                <a:latin typeface="Onest" pitchFamily="34" charset="0"/>
                <a:ea typeface="Onest" pitchFamily="34" charset="-122"/>
                <a:cs typeface="Onest" pitchFamily="34" charset="-120"/>
              </a:rPr>
              <a:t>Valid to 2031</a:t>
            </a:r>
            <a:endParaRPr lang="en-US" sz="700" dirty="0"/>
          </a:p>
        </p:txBody>
      </p:sp>
      <p:sp>
        <p:nvSpPr>
          <p:cNvPr id="24" name="Text 16"/>
          <p:cNvSpPr txBox="1"/>
          <p:nvPr/>
        </p:nvSpPr>
        <p:spPr>
          <a:xfrm>
            <a:off x="749808" y="3419856"/>
            <a:ext cx="1005840" cy="201168"/>
          </a:xfrm>
          <a:prstGeom prst="rect">
            <a:avLst/>
          </a:prstGeom>
          <a:noFill/>
          <a:ln/>
        </p:spPr>
        <p:txBody>
          <a:bodyPr wrap="square" lIns="0" tIns="0" rIns="0" bIns="0" rtlCol="0" anchor="ctr"/>
          <a:lstStyle/>
          <a:p>
            <a:pPr indent="0" marL="0">
              <a:buNone/>
            </a:pPr>
            <a:r>
              <a:rPr lang="en-US" sz="800" b="1" dirty="0">
                <a:solidFill>
                  <a:srgbClr val="072011"/>
                </a:solidFill>
                <a:latin typeface="Unbounded" pitchFamily="34" charset="0"/>
                <a:ea typeface="Unbounded" pitchFamily="34" charset="-122"/>
                <a:cs typeface="Unbounded" pitchFamily="34" charset="-120"/>
              </a:rPr>
              <a:t>Bank statement</a:t>
            </a:r>
            <a:endParaRPr lang="en-US" sz="800" dirty="0"/>
          </a:p>
        </p:txBody>
      </p:sp>
      <p:sp>
        <p:nvSpPr>
          <p:cNvPr id="25" name="Text 17"/>
          <p:cNvSpPr/>
          <p:nvPr/>
        </p:nvSpPr>
        <p:spPr>
          <a:xfrm>
            <a:off x="1874520" y="3429000"/>
            <a:ext cx="960120" cy="182880"/>
          </a:xfrm>
          <a:prstGeom prst="roundRect">
            <a:avLst>
              <a:gd name="adj" fmla="val 50000"/>
            </a:avLst>
          </a:prstGeom>
          <a:solidFill>
            <a:srgbClr val="E1F0E6"/>
          </a:solidFill>
          <a:ln/>
        </p:spPr>
        <p:txBody>
          <a:bodyPr wrap="square" lIns="0" tIns="0" rIns="0" bIns="0" rtlCol="0" anchor="ctr"/>
          <a:lstStyle/>
          <a:p>
            <a:pPr algn="ctr" indent="0" marL="0">
              <a:buNone/>
            </a:pPr>
            <a:r>
              <a:rPr lang="en-US" sz="700" b="1" dirty="0">
                <a:solidFill>
                  <a:srgbClr val="24683F"/>
                </a:solidFill>
                <a:latin typeface="Onest" pitchFamily="34" charset="0"/>
                <a:ea typeface="Onest" pitchFamily="34" charset="-122"/>
                <a:cs typeface="Onest" pitchFamily="34" charset="-120"/>
              </a:rPr>
              <a:t>Meets minimum</a:t>
            </a:r>
            <a:endParaRPr lang="en-US" sz="700" dirty="0"/>
          </a:p>
        </p:txBody>
      </p:sp>
      <p:sp>
        <p:nvSpPr>
          <p:cNvPr id="26" name="Text 18"/>
          <p:cNvSpPr txBox="1"/>
          <p:nvPr/>
        </p:nvSpPr>
        <p:spPr>
          <a:xfrm>
            <a:off x="749808" y="3666744"/>
            <a:ext cx="1005840" cy="201168"/>
          </a:xfrm>
          <a:prstGeom prst="rect">
            <a:avLst/>
          </a:prstGeom>
          <a:noFill/>
          <a:ln/>
        </p:spPr>
        <p:txBody>
          <a:bodyPr wrap="square" lIns="0" tIns="0" rIns="0" bIns="0" rtlCol="0" anchor="ctr"/>
          <a:lstStyle/>
          <a:p>
            <a:pPr indent="0" marL="0">
              <a:buNone/>
            </a:pPr>
            <a:r>
              <a:rPr lang="en-US" sz="800" b="1" dirty="0">
                <a:solidFill>
                  <a:srgbClr val="072011"/>
                </a:solidFill>
                <a:latin typeface="Unbounded" pitchFamily="34" charset="0"/>
                <a:ea typeface="Unbounded" pitchFamily="34" charset="-122"/>
                <a:cs typeface="Unbounded" pitchFamily="34" charset="-120"/>
              </a:rPr>
              <a:t>Insurance</a:t>
            </a:r>
            <a:endParaRPr lang="en-US" sz="800" dirty="0"/>
          </a:p>
        </p:txBody>
      </p:sp>
      <p:sp>
        <p:nvSpPr>
          <p:cNvPr id="27" name="Text 19"/>
          <p:cNvSpPr/>
          <p:nvPr/>
        </p:nvSpPr>
        <p:spPr>
          <a:xfrm>
            <a:off x="1874520" y="3675888"/>
            <a:ext cx="960120" cy="182880"/>
          </a:xfrm>
          <a:prstGeom prst="roundRect">
            <a:avLst>
              <a:gd name="adj" fmla="val 50000"/>
            </a:avLst>
          </a:prstGeom>
          <a:solidFill>
            <a:srgbClr val="F7E1E1"/>
          </a:solidFill>
          <a:ln/>
        </p:spPr>
        <p:txBody>
          <a:bodyPr wrap="square" lIns="0" tIns="0" rIns="0" bIns="0" rtlCol="0" anchor="ctr"/>
          <a:lstStyle/>
          <a:p>
            <a:pPr algn="ctr" indent="0" marL="0">
              <a:buNone/>
            </a:pPr>
            <a:r>
              <a:rPr lang="en-US" sz="700" b="1" dirty="0">
                <a:solidFill>
                  <a:srgbClr val="B84747"/>
                </a:solidFill>
                <a:latin typeface="Onest" pitchFamily="34" charset="0"/>
                <a:ea typeface="Onest" pitchFamily="34" charset="-122"/>
                <a:cs typeface="Onest" pitchFamily="34" charset="-120"/>
              </a:rPr>
              <a:t>Ends too early</a:t>
            </a:r>
            <a:endParaRPr lang="en-US" sz="700" dirty="0"/>
          </a:p>
        </p:txBody>
      </p:sp>
      <p:sp>
        <p:nvSpPr>
          <p:cNvPr id="28" name="Shape 20"/>
          <p:cNvSpPr/>
          <p:nvPr/>
        </p:nvSpPr>
        <p:spPr>
          <a:xfrm>
            <a:off x="3273552" y="1828800"/>
            <a:ext cx="2624328" cy="1033272"/>
          </a:xfrm>
          <a:prstGeom prst="roundRect">
            <a:avLst>
              <a:gd name="adj" fmla="val 14159"/>
            </a:avLst>
          </a:prstGeom>
          <a:solidFill>
            <a:srgbClr val="072011">
              <a:alpha val="70000"/>
            </a:srgbClr>
          </a:solidFill>
          <a:ln w="9525">
            <a:solidFill>
              <a:srgbClr val="D8A9A9">
                <a:alpha val="25000"/>
              </a:srgbClr>
            </a:solidFill>
            <a:prstDash val="solid"/>
          </a:ln>
        </p:spPr>
      </p:sp>
      <p:sp>
        <p:nvSpPr>
          <p:cNvPr id="29" name="Text 21"/>
          <p:cNvSpPr/>
          <p:nvPr/>
        </p:nvSpPr>
        <p:spPr>
          <a:xfrm>
            <a:off x="3438144" y="1975104"/>
            <a:ext cx="457200" cy="182880"/>
          </a:xfrm>
          <a:prstGeom prst="roundRect">
            <a:avLst>
              <a:gd name="adj" fmla="val 50000"/>
            </a:avLst>
          </a:prstGeom>
          <a:solidFill>
            <a:srgbClr val="B84747"/>
          </a:solidFill>
          <a:ln/>
        </p:spPr>
        <p:txBody>
          <a:bodyPr wrap="square" lIns="0" tIns="0" rIns="0" bIns="0" rtlCol="0" anchor="ctr"/>
          <a:lstStyle/>
          <a:p>
            <a:pPr algn="ctr" indent="0" marL="0">
              <a:buNone/>
            </a:pPr>
            <a:r>
              <a:rPr lang="en-US" sz="700" b="1" dirty="0">
                <a:solidFill>
                  <a:srgbClr val="FFFFFF"/>
                </a:solidFill>
                <a:latin typeface="Onest" pitchFamily="34" charset="0"/>
                <a:ea typeface="Onest" pitchFamily="34" charset="-122"/>
                <a:cs typeface="Onest" pitchFamily="34" charset="-120"/>
              </a:rPr>
              <a:t>NEW</a:t>
            </a:r>
            <a:endParaRPr lang="en-US" sz="700" dirty="0"/>
          </a:p>
        </p:txBody>
      </p:sp>
      <p:sp>
        <p:nvSpPr>
          <p:cNvPr id="30" name="Text 22"/>
          <p:cNvSpPr txBox="1"/>
          <p:nvPr/>
        </p:nvSpPr>
        <p:spPr>
          <a:xfrm>
            <a:off x="3438144" y="2212848"/>
            <a:ext cx="2295144" cy="237744"/>
          </a:xfrm>
          <a:prstGeom prst="rect">
            <a:avLst/>
          </a:prstGeom>
          <a:noFill/>
          <a:ln/>
        </p:spPr>
        <p:txBody>
          <a:bodyPr wrap="square" lIns="0" tIns="0" rIns="0" bIns="0" rtlCol="0" anchor="t"/>
          <a:lstStyle/>
          <a:p>
            <a:pPr indent="0" marL="0">
              <a:buNone/>
            </a:pPr>
            <a:r>
              <a:rPr lang="en-US" sz="1050" b="1" dirty="0">
                <a:solidFill>
                  <a:srgbClr val="FFFFFF"/>
                </a:solidFill>
                <a:latin typeface="Unbounded" pitchFamily="34" charset="0"/>
                <a:ea typeface="Unbounded" pitchFamily="34" charset="-122"/>
                <a:cs typeface="Unbounded" pitchFamily="34" charset="-120"/>
              </a:rPr>
              <a:t>Pay fees with Wise</a:t>
            </a:r>
            <a:endParaRPr lang="en-US" sz="1050" dirty="0"/>
          </a:p>
        </p:txBody>
      </p:sp>
      <p:sp>
        <p:nvSpPr>
          <p:cNvPr id="31" name="Text 23"/>
          <p:cNvSpPr txBox="1"/>
          <p:nvPr/>
        </p:nvSpPr>
        <p:spPr>
          <a:xfrm>
            <a:off x="3438144" y="2450592"/>
            <a:ext cx="2295144" cy="365760"/>
          </a:xfrm>
          <a:prstGeom prst="rect">
            <a:avLst/>
          </a:prstGeom>
          <a:noFill/>
          <a:ln/>
        </p:spPr>
        <p:txBody>
          <a:bodyPr wrap="square" lIns="0" tIns="0" rIns="0" bIns="0" rtlCol="0" anchor="t"/>
          <a:lstStyle/>
          <a:p>
            <a:pPr indent="0" marL="0">
              <a:buNone/>
            </a:pPr>
            <a:r>
              <a:rPr lang="en-US" sz="850" dirty="0">
                <a:solidFill>
                  <a:srgbClr val="D3DCC8"/>
                </a:solidFill>
                <a:latin typeface="Onest" pitchFamily="34" charset="0"/>
                <a:ea typeface="Onest" pitchFamily="34" charset="-122"/>
                <a:cs typeface="Onest" pitchFamily="34" charset="-120"/>
              </a:rPr>
              <a:t>Visa and permit fees in local currency, proof of funds attached with consent.</a:t>
            </a:r>
            <a:endParaRPr lang="en-US" sz="850" dirty="0"/>
          </a:p>
        </p:txBody>
      </p:sp>
      <p:sp>
        <p:nvSpPr>
          <p:cNvPr id="32" name="Shape 24"/>
          <p:cNvSpPr/>
          <p:nvPr/>
        </p:nvSpPr>
        <p:spPr>
          <a:xfrm>
            <a:off x="6062472" y="1828800"/>
            <a:ext cx="2624328" cy="1033272"/>
          </a:xfrm>
          <a:prstGeom prst="roundRect">
            <a:avLst>
              <a:gd name="adj" fmla="val 14159"/>
            </a:avLst>
          </a:prstGeom>
          <a:solidFill>
            <a:srgbClr val="072011">
              <a:alpha val="70000"/>
            </a:srgbClr>
          </a:solidFill>
          <a:ln w="9525">
            <a:solidFill>
              <a:srgbClr val="D8A9A9">
                <a:alpha val="25000"/>
              </a:srgbClr>
            </a:solidFill>
            <a:prstDash val="solid"/>
          </a:ln>
        </p:spPr>
      </p:sp>
      <p:sp>
        <p:nvSpPr>
          <p:cNvPr id="33" name="Text 25"/>
          <p:cNvSpPr/>
          <p:nvPr/>
        </p:nvSpPr>
        <p:spPr>
          <a:xfrm>
            <a:off x="6227064" y="1975104"/>
            <a:ext cx="457200" cy="182880"/>
          </a:xfrm>
          <a:prstGeom prst="roundRect">
            <a:avLst>
              <a:gd name="adj" fmla="val 50000"/>
            </a:avLst>
          </a:prstGeom>
          <a:solidFill>
            <a:srgbClr val="B84747"/>
          </a:solidFill>
          <a:ln/>
        </p:spPr>
        <p:txBody>
          <a:bodyPr wrap="square" lIns="0" tIns="0" rIns="0" bIns="0" rtlCol="0" anchor="ctr"/>
          <a:lstStyle/>
          <a:p>
            <a:pPr algn="ctr" indent="0" marL="0">
              <a:buNone/>
            </a:pPr>
            <a:r>
              <a:rPr lang="en-US" sz="700" b="1" dirty="0">
                <a:solidFill>
                  <a:srgbClr val="FFFFFF"/>
                </a:solidFill>
                <a:latin typeface="Onest" pitchFamily="34" charset="0"/>
                <a:ea typeface="Onest" pitchFamily="34" charset="-122"/>
                <a:cs typeface="Onest" pitchFamily="34" charset="-120"/>
              </a:rPr>
              <a:t>NEW</a:t>
            </a:r>
            <a:endParaRPr lang="en-US" sz="700" dirty="0"/>
          </a:p>
        </p:txBody>
      </p:sp>
      <p:sp>
        <p:nvSpPr>
          <p:cNvPr id="34" name="Text 26"/>
          <p:cNvSpPr txBox="1"/>
          <p:nvPr/>
        </p:nvSpPr>
        <p:spPr>
          <a:xfrm>
            <a:off x="6227064" y="2212848"/>
            <a:ext cx="2295144" cy="237744"/>
          </a:xfrm>
          <a:prstGeom prst="rect">
            <a:avLst/>
          </a:prstGeom>
          <a:noFill/>
          <a:ln/>
        </p:spPr>
        <p:txBody>
          <a:bodyPr wrap="square" lIns="0" tIns="0" rIns="0" bIns="0" rtlCol="0" anchor="t"/>
          <a:lstStyle/>
          <a:p>
            <a:pPr indent="0" marL="0">
              <a:buNone/>
            </a:pPr>
            <a:r>
              <a:rPr lang="en-US" sz="1050" b="1" dirty="0">
                <a:solidFill>
                  <a:srgbClr val="FFFFFF"/>
                </a:solidFill>
                <a:latin typeface="Unbounded" pitchFamily="34" charset="0"/>
                <a:ea typeface="Unbounded" pitchFamily="34" charset="-122"/>
                <a:cs typeface="Unbounded" pitchFamily="34" charset="-120"/>
              </a:rPr>
              <a:t>Travel map</a:t>
            </a:r>
            <a:endParaRPr lang="en-US" sz="1050" dirty="0"/>
          </a:p>
        </p:txBody>
      </p:sp>
      <p:sp>
        <p:nvSpPr>
          <p:cNvPr id="35" name="Text 27"/>
          <p:cNvSpPr txBox="1"/>
          <p:nvPr/>
        </p:nvSpPr>
        <p:spPr>
          <a:xfrm>
            <a:off x="6227064" y="2450592"/>
            <a:ext cx="2295144" cy="365760"/>
          </a:xfrm>
          <a:prstGeom prst="rect">
            <a:avLst/>
          </a:prstGeom>
          <a:noFill/>
          <a:ln/>
        </p:spPr>
        <p:txBody>
          <a:bodyPr wrap="square" lIns="0" tIns="0" rIns="0" bIns="0" rtlCol="0" anchor="t"/>
          <a:lstStyle/>
          <a:p>
            <a:pPr indent="0" marL="0">
              <a:buNone/>
            </a:pPr>
            <a:r>
              <a:rPr lang="en-US" sz="850" dirty="0">
                <a:solidFill>
                  <a:srgbClr val="D3DCC8"/>
                </a:solidFill>
                <a:latin typeface="Onest" pitchFamily="34" charset="0"/>
                <a:ea typeface="Onest" pitchFamily="34" charset="-122"/>
                <a:cs typeface="Onest" pitchFamily="34" charset="-120"/>
              </a:rPr>
              <a:t>Where your passport and permit let you go, even mid-renewal.</a:t>
            </a:r>
            <a:endParaRPr lang="en-US" sz="850" dirty="0"/>
          </a:p>
        </p:txBody>
      </p:sp>
      <p:sp>
        <p:nvSpPr>
          <p:cNvPr id="36" name="Shape 28"/>
          <p:cNvSpPr/>
          <p:nvPr/>
        </p:nvSpPr>
        <p:spPr>
          <a:xfrm>
            <a:off x="3273552" y="3035808"/>
            <a:ext cx="2624328" cy="1033272"/>
          </a:xfrm>
          <a:prstGeom prst="roundRect">
            <a:avLst>
              <a:gd name="adj" fmla="val 14159"/>
            </a:avLst>
          </a:prstGeom>
          <a:solidFill>
            <a:srgbClr val="072011">
              <a:alpha val="70000"/>
            </a:srgbClr>
          </a:solidFill>
          <a:ln w="9525">
            <a:solidFill>
              <a:srgbClr val="D8A9A9">
                <a:alpha val="25000"/>
              </a:srgbClr>
            </a:solidFill>
            <a:prstDash val="solid"/>
          </a:ln>
        </p:spPr>
      </p:sp>
      <p:sp>
        <p:nvSpPr>
          <p:cNvPr id="37" name="Text 29"/>
          <p:cNvSpPr/>
          <p:nvPr/>
        </p:nvSpPr>
        <p:spPr>
          <a:xfrm>
            <a:off x="3438144" y="3182112"/>
            <a:ext cx="868680" cy="182880"/>
          </a:xfrm>
          <a:prstGeom prst="roundRect">
            <a:avLst>
              <a:gd name="adj" fmla="val 50000"/>
            </a:avLst>
          </a:prstGeom>
          <a:noFill/>
          <a:ln w="9525">
            <a:solidFill>
              <a:srgbClr val="D8A9A9"/>
            </a:solidFill>
          </a:ln>
        </p:spPr>
        <p:txBody>
          <a:bodyPr wrap="square" lIns="0" tIns="0" rIns="0" bIns="0" rtlCol="0" anchor="ctr"/>
          <a:lstStyle/>
          <a:p>
            <a:pPr algn="ctr" indent="0" marL="0">
              <a:buNone/>
            </a:pPr>
            <a:r>
              <a:rPr lang="en-US" sz="700" b="1" dirty="0">
                <a:solidFill>
                  <a:srgbClr val="D8A9A9"/>
                </a:solidFill>
                <a:latin typeface="Onest" pitchFamily="34" charset="0"/>
                <a:ea typeface="Onest" pitchFamily="34" charset="-122"/>
                <a:cs typeface="Onest" pitchFamily="34" charset="-120"/>
              </a:rPr>
              <a:t>COMING SOON</a:t>
            </a:r>
            <a:endParaRPr lang="en-US" sz="700" dirty="0"/>
          </a:p>
        </p:txBody>
      </p:sp>
      <p:sp>
        <p:nvSpPr>
          <p:cNvPr id="38" name="Text 30"/>
          <p:cNvSpPr txBox="1"/>
          <p:nvPr/>
        </p:nvSpPr>
        <p:spPr>
          <a:xfrm>
            <a:off x="3438144" y="3419856"/>
            <a:ext cx="2295144" cy="237744"/>
          </a:xfrm>
          <a:prstGeom prst="rect">
            <a:avLst/>
          </a:prstGeom>
          <a:noFill/>
          <a:ln/>
        </p:spPr>
        <p:txBody>
          <a:bodyPr wrap="square" lIns="0" tIns="0" rIns="0" bIns="0" rtlCol="0" anchor="t"/>
          <a:lstStyle/>
          <a:p>
            <a:pPr indent="0" marL="0">
              <a:buNone/>
            </a:pPr>
            <a:r>
              <a:rPr lang="en-US" sz="1050" b="1" dirty="0">
                <a:solidFill>
                  <a:srgbClr val="FFFFFF"/>
                </a:solidFill>
                <a:latin typeface="Unbounded" pitchFamily="34" charset="0"/>
                <a:ea typeface="Unbounded" pitchFamily="34" charset="-122"/>
                <a:cs typeface="Unbounded" pitchFamily="34" charset="-120"/>
              </a:rPr>
              <a:t>Family cases</a:t>
            </a:r>
            <a:endParaRPr lang="en-US" sz="1050" dirty="0"/>
          </a:p>
        </p:txBody>
      </p:sp>
      <p:sp>
        <p:nvSpPr>
          <p:cNvPr id="39" name="Text 31"/>
          <p:cNvSpPr txBox="1"/>
          <p:nvPr/>
        </p:nvSpPr>
        <p:spPr>
          <a:xfrm>
            <a:off x="3438144" y="3657600"/>
            <a:ext cx="2295144" cy="365760"/>
          </a:xfrm>
          <a:prstGeom prst="rect">
            <a:avLst/>
          </a:prstGeom>
          <a:noFill/>
          <a:ln/>
        </p:spPr>
        <p:txBody>
          <a:bodyPr wrap="square" lIns="0" tIns="0" rIns="0" bIns="0" rtlCol="0" anchor="t"/>
          <a:lstStyle/>
          <a:p>
            <a:pPr indent="0" marL="0">
              <a:buNone/>
            </a:pPr>
            <a:r>
              <a:rPr lang="en-US" sz="850" dirty="0">
                <a:solidFill>
                  <a:srgbClr val="D3DCC8"/>
                </a:solidFill>
                <a:latin typeface="Onest" pitchFamily="34" charset="0"/>
                <a:ea typeface="Onest" pitchFamily="34" charset="-122"/>
                <a:cs typeface="Onest" pitchFamily="34" charset="-120"/>
              </a:rPr>
              <a:t>Partner and children on one plan with linked deadlines.</a:t>
            </a:r>
            <a:endParaRPr lang="en-US" sz="850" dirty="0"/>
          </a:p>
        </p:txBody>
      </p:sp>
      <p:sp>
        <p:nvSpPr>
          <p:cNvPr id="40" name="Shape 32"/>
          <p:cNvSpPr/>
          <p:nvPr/>
        </p:nvSpPr>
        <p:spPr>
          <a:xfrm>
            <a:off x="6062472" y="3035808"/>
            <a:ext cx="2624328" cy="1033272"/>
          </a:xfrm>
          <a:prstGeom prst="roundRect">
            <a:avLst>
              <a:gd name="adj" fmla="val 14159"/>
            </a:avLst>
          </a:prstGeom>
          <a:solidFill>
            <a:srgbClr val="072011">
              <a:alpha val="70000"/>
            </a:srgbClr>
          </a:solidFill>
          <a:ln w="9525">
            <a:solidFill>
              <a:srgbClr val="D8A9A9">
                <a:alpha val="25000"/>
              </a:srgbClr>
            </a:solidFill>
            <a:prstDash val="solid"/>
          </a:ln>
        </p:spPr>
      </p:sp>
      <p:sp>
        <p:nvSpPr>
          <p:cNvPr id="41" name="Text 33"/>
          <p:cNvSpPr/>
          <p:nvPr/>
        </p:nvSpPr>
        <p:spPr>
          <a:xfrm>
            <a:off x="6227064" y="3182112"/>
            <a:ext cx="868680" cy="182880"/>
          </a:xfrm>
          <a:prstGeom prst="roundRect">
            <a:avLst>
              <a:gd name="adj" fmla="val 50000"/>
            </a:avLst>
          </a:prstGeom>
          <a:noFill/>
          <a:ln w="9525">
            <a:solidFill>
              <a:srgbClr val="D8A9A9"/>
            </a:solidFill>
          </a:ln>
        </p:spPr>
        <p:txBody>
          <a:bodyPr wrap="square" lIns="0" tIns="0" rIns="0" bIns="0" rtlCol="0" anchor="ctr"/>
          <a:lstStyle/>
          <a:p>
            <a:pPr algn="ctr" indent="0" marL="0">
              <a:buNone/>
            </a:pPr>
            <a:r>
              <a:rPr lang="en-US" sz="700" b="1" dirty="0">
                <a:solidFill>
                  <a:srgbClr val="D8A9A9"/>
                </a:solidFill>
                <a:latin typeface="Onest" pitchFamily="34" charset="0"/>
                <a:ea typeface="Onest" pitchFamily="34" charset="-122"/>
                <a:cs typeface="Onest" pitchFamily="34" charset="-120"/>
              </a:rPr>
              <a:t>COMING SOON</a:t>
            </a:r>
            <a:endParaRPr lang="en-US" sz="700" dirty="0"/>
          </a:p>
        </p:txBody>
      </p:sp>
      <p:sp>
        <p:nvSpPr>
          <p:cNvPr id="42" name="Text 34"/>
          <p:cNvSpPr txBox="1"/>
          <p:nvPr/>
        </p:nvSpPr>
        <p:spPr>
          <a:xfrm>
            <a:off x="6227064" y="3419856"/>
            <a:ext cx="2295144" cy="237744"/>
          </a:xfrm>
          <a:prstGeom prst="rect">
            <a:avLst/>
          </a:prstGeom>
          <a:noFill/>
          <a:ln/>
        </p:spPr>
        <p:txBody>
          <a:bodyPr wrap="square" lIns="0" tIns="0" rIns="0" bIns="0" rtlCol="0" anchor="t"/>
          <a:lstStyle/>
          <a:p>
            <a:pPr indent="0" marL="0">
              <a:buNone/>
            </a:pPr>
            <a:r>
              <a:rPr lang="en-US" sz="1050" b="1" dirty="0">
                <a:solidFill>
                  <a:srgbClr val="FFFFFF"/>
                </a:solidFill>
                <a:latin typeface="Unbounded" pitchFamily="34" charset="0"/>
                <a:ea typeface="Unbounded" pitchFamily="34" charset="-122"/>
                <a:cs typeface="Unbounded" pitchFamily="34" charset="-120"/>
              </a:rPr>
              <a:t>Unbound for employers</a:t>
            </a:r>
            <a:endParaRPr lang="en-US" sz="1050" dirty="0"/>
          </a:p>
        </p:txBody>
      </p:sp>
      <p:sp>
        <p:nvSpPr>
          <p:cNvPr id="43" name="Text 35"/>
          <p:cNvSpPr txBox="1"/>
          <p:nvPr/>
        </p:nvSpPr>
        <p:spPr>
          <a:xfrm>
            <a:off x="6227064" y="3657600"/>
            <a:ext cx="2295144" cy="365760"/>
          </a:xfrm>
          <a:prstGeom prst="rect">
            <a:avLst/>
          </a:prstGeom>
          <a:noFill/>
          <a:ln/>
        </p:spPr>
        <p:txBody>
          <a:bodyPr wrap="square" lIns="0" tIns="0" rIns="0" bIns="0" rtlCol="0" anchor="t"/>
          <a:lstStyle/>
          <a:p>
            <a:pPr indent="0" marL="0">
              <a:buNone/>
            </a:pPr>
            <a:r>
              <a:rPr lang="en-US" sz="850" dirty="0">
                <a:solidFill>
                  <a:srgbClr val="D3DCC8"/>
                </a:solidFill>
                <a:latin typeface="Onest" pitchFamily="34" charset="0"/>
                <a:ea typeface="Onest" pitchFamily="34" charset="-122"/>
                <a:cs typeface="Onest" pitchFamily="34" charset="-120"/>
              </a:rPr>
              <a:t>HR sees each hire’s permit status and next compliance actions.</a:t>
            </a:r>
            <a:endParaRPr lang="en-US" sz="850" dirty="0"/>
          </a:p>
        </p:txBody>
      </p:sp>
      <p:sp>
        <p:nvSpPr>
          <p:cNvPr id="44" name="Shape 36"/>
          <p:cNvSpPr/>
          <p:nvPr/>
        </p:nvSpPr>
        <p:spPr>
          <a:xfrm>
            <a:off x="457200" y="4224528"/>
            <a:ext cx="8229600" cy="0"/>
          </a:xfrm>
          <a:prstGeom prst="line">
            <a:avLst/>
          </a:prstGeom>
          <a:noFill/>
          <a:ln w="6350">
            <a:solidFill>
              <a:srgbClr val="D8A9A9">
                <a:alpha val="25000"/>
              </a:srgbClr>
            </a:solidFill>
            <a:prstDash val="solid"/>
          </a:ln>
        </p:spPr>
      </p:sp>
      <p:pic>
        <p:nvPicPr>
          <p:cNvPr id="45" name="Image 6" descr="preencoded.png">    </p:cNvPr>
          <p:cNvPicPr>
            <a:picLocks noChangeAspect="1"/>
          </p:cNvPicPr>
          <p:nvPr/>
        </p:nvPicPr>
        <p:blipFill>
          <a:blip r:embed="rId7"/>
          <a:stretch>
            <a:fillRect/>
          </a:stretch>
        </p:blipFill>
        <p:spPr>
          <a:xfrm>
            <a:off x="457200" y="4361688"/>
            <a:ext cx="201168" cy="201168"/>
          </a:xfrm>
          <a:prstGeom prst="rect">
            <a:avLst/>
          </a:prstGeom>
        </p:spPr>
      </p:pic>
      <p:sp>
        <p:nvSpPr>
          <p:cNvPr id="46" name="Text 37"/>
          <p:cNvSpPr txBox="1"/>
          <p:nvPr/>
        </p:nvSpPr>
        <p:spPr>
          <a:xfrm>
            <a:off x="749808" y="4334256"/>
            <a:ext cx="1691640" cy="201168"/>
          </a:xfrm>
          <a:prstGeom prst="rect">
            <a:avLst/>
          </a:prstGeom>
          <a:noFill/>
          <a:ln/>
        </p:spPr>
        <p:txBody>
          <a:bodyPr wrap="square" lIns="0" tIns="0" rIns="0" bIns="0" rtlCol="0" anchor="t"/>
          <a:lstStyle/>
          <a:p>
            <a:pPr indent="0" marL="0">
              <a:buNone/>
            </a:pPr>
            <a:r>
              <a:rPr lang="en-US" sz="900" b="1" dirty="0">
                <a:solidFill>
                  <a:srgbClr val="FFFFFF"/>
                </a:solidFill>
                <a:latin typeface="Onest" pitchFamily="34" charset="0"/>
                <a:ea typeface="Onest" pitchFamily="34" charset="-122"/>
                <a:cs typeface="Onest" pitchFamily="34" charset="-120"/>
              </a:rPr>
              <a:t>Encrypted documents</a:t>
            </a:r>
            <a:endParaRPr lang="en-US" sz="900" dirty="0"/>
          </a:p>
        </p:txBody>
      </p:sp>
      <p:sp>
        <p:nvSpPr>
          <p:cNvPr id="47" name="Text 38"/>
          <p:cNvSpPr txBox="1"/>
          <p:nvPr/>
        </p:nvSpPr>
        <p:spPr>
          <a:xfrm>
            <a:off x="749808" y="4535424"/>
            <a:ext cx="1691640" cy="201168"/>
          </a:xfrm>
          <a:prstGeom prst="rect">
            <a:avLst/>
          </a:prstGeom>
          <a:noFill/>
          <a:ln/>
        </p:spPr>
        <p:txBody>
          <a:bodyPr wrap="square" lIns="0" tIns="0" rIns="0" bIns="0" rtlCol="0" anchor="t"/>
          <a:lstStyle/>
          <a:p>
            <a:pPr indent="0" marL="0">
              <a:buNone/>
            </a:pPr>
            <a:r>
              <a:rPr lang="en-US" sz="800" dirty="0">
                <a:solidFill>
                  <a:srgbClr val="D3DCC8"/>
                </a:solidFill>
                <a:latin typeface="Onest" pitchFamily="34" charset="0"/>
                <a:ea typeface="Onest" pitchFamily="34" charset="-122"/>
                <a:cs typeface="Onest" pitchFamily="34" charset="-120"/>
              </a:rPr>
              <a:t>Only you and offices you approve</a:t>
            </a:r>
            <a:endParaRPr lang="en-US" sz="800" dirty="0"/>
          </a:p>
        </p:txBody>
      </p:sp>
      <p:pic>
        <p:nvPicPr>
          <p:cNvPr id="48" name="Image 7" descr="preencoded.png">    </p:cNvPr>
          <p:cNvPicPr>
            <a:picLocks noChangeAspect="1"/>
          </p:cNvPicPr>
          <p:nvPr/>
        </p:nvPicPr>
        <p:blipFill>
          <a:blip r:embed="rId8"/>
          <a:stretch>
            <a:fillRect/>
          </a:stretch>
        </p:blipFill>
        <p:spPr>
          <a:xfrm>
            <a:off x="2514600" y="4361688"/>
            <a:ext cx="201168" cy="201168"/>
          </a:xfrm>
          <a:prstGeom prst="rect">
            <a:avLst/>
          </a:prstGeom>
        </p:spPr>
      </p:pic>
      <p:sp>
        <p:nvSpPr>
          <p:cNvPr id="49" name="Text 39"/>
          <p:cNvSpPr txBox="1"/>
          <p:nvPr/>
        </p:nvSpPr>
        <p:spPr>
          <a:xfrm>
            <a:off x="2807208" y="4334256"/>
            <a:ext cx="1691640" cy="201168"/>
          </a:xfrm>
          <a:prstGeom prst="rect">
            <a:avLst/>
          </a:prstGeom>
          <a:noFill/>
          <a:ln/>
        </p:spPr>
        <p:txBody>
          <a:bodyPr wrap="square" lIns="0" tIns="0" rIns="0" bIns="0" rtlCol="0" anchor="t"/>
          <a:lstStyle/>
          <a:p>
            <a:pPr indent="0" marL="0">
              <a:buNone/>
            </a:pPr>
            <a:r>
              <a:rPr lang="en-US" sz="900" b="1" dirty="0">
                <a:solidFill>
                  <a:srgbClr val="FFFFFF"/>
                </a:solidFill>
                <a:latin typeface="Onest" pitchFamily="34" charset="0"/>
                <a:ea typeface="Onest" pitchFamily="34" charset="-122"/>
                <a:cs typeface="Onest" pitchFamily="34" charset="-120"/>
              </a:rPr>
              <a:t>You approve every step</a:t>
            </a:r>
            <a:endParaRPr lang="en-US" sz="900" dirty="0"/>
          </a:p>
        </p:txBody>
      </p:sp>
      <p:sp>
        <p:nvSpPr>
          <p:cNvPr id="50" name="Text 40"/>
          <p:cNvSpPr txBox="1"/>
          <p:nvPr/>
        </p:nvSpPr>
        <p:spPr>
          <a:xfrm>
            <a:off x="2807208" y="4535424"/>
            <a:ext cx="1691640" cy="201168"/>
          </a:xfrm>
          <a:prstGeom prst="rect">
            <a:avLst/>
          </a:prstGeom>
          <a:noFill/>
          <a:ln/>
        </p:spPr>
        <p:txBody>
          <a:bodyPr wrap="square" lIns="0" tIns="0" rIns="0" bIns="0" rtlCol="0" anchor="t"/>
          <a:lstStyle/>
          <a:p>
            <a:pPr indent="0" marL="0">
              <a:buNone/>
            </a:pPr>
            <a:r>
              <a:rPr lang="en-US" sz="800" dirty="0">
                <a:solidFill>
                  <a:srgbClr val="D3DCC8"/>
                </a:solidFill>
                <a:latin typeface="Onest" pitchFamily="34" charset="0"/>
                <a:ea typeface="Onest" pitchFamily="34" charset="-122"/>
                <a:cs typeface="Onest" pitchFamily="34" charset="-120"/>
              </a:rPr>
              <a:t>Nothing submitted without you</a:t>
            </a:r>
            <a:endParaRPr lang="en-US" sz="800" dirty="0"/>
          </a:p>
        </p:txBody>
      </p:sp>
      <p:pic>
        <p:nvPicPr>
          <p:cNvPr id="51" name="Image 8" descr="preencoded.png">    </p:cNvPr>
          <p:cNvPicPr>
            <a:picLocks noChangeAspect="1"/>
          </p:cNvPicPr>
          <p:nvPr/>
        </p:nvPicPr>
        <p:blipFill>
          <a:blip r:embed="rId9"/>
          <a:stretch>
            <a:fillRect/>
          </a:stretch>
        </p:blipFill>
        <p:spPr>
          <a:xfrm>
            <a:off x="4572000" y="4361688"/>
            <a:ext cx="201168" cy="201168"/>
          </a:xfrm>
          <a:prstGeom prst="rect">
            <a:avLst/>
          </a:prstGeom>
        </p:spPr>
      </p:pic>
      <p:sp>
        <p:nvSpPr>
          <p:cNvPr id="52" name="Text 41"/>
          <p:cNvSpPr txBox="1"/>
          <p:nvPr/>
        </p:nvSpPr>
        <p:spPr>
          <a:xfrm>
            <a:off x="4864608" y="4334256"/>
            <a:ext cx="1691640" cy="201168"/>
          </a:xfrm>
          <a:prstGeom prst="rect">
            <a:avLst/>
          </a:prstGeom>
          <a:noFill/>
          <a:ln/>
        </p:spPr>
        <p:txBody>
          <a:bodyPr wrap="square" lIns="0" tIns="0" rIns="0" bIns="0" rtlCol="0" anchor="t"/>
          <a:lstStyle/>
          <a:p>
            <a:pPr indent="0" marL="0">
              <a:buNone/>
            </a:pPr>
            <a:r>
              <a:rPr lang="en-US" sz="900" b="1" dirty="0">
                <a:solidFill>
                  <a:srgbClr val="FFFFFF"/>
                </a:solidFill>
                <a:latin typeface="Onest" pitchFamily="34" charset="0"/>
                <a:ea typeface="Onest" pitchFamily="34" charset="-122"/>
                <a:cs typeface="Onest" pitchFamily="34" charset="-120"/>
              </a:rPr>
              <a:t>Advisers on call</a:t>
            </a:r>
            <a:endParaRPr lang="en-US" sz="900" dirty="0"/>
          </a:p>
        </p:txBody>
      </p:sp>
      <p:sp>
        <p:nvSpPr>
          <p:cNvPr id="53" name="Text 42"/>
          <p:cNvSpPr txBox="1"/>
          <p:nvPr/>
        </p:nvSpPr>
        <p:spPr>
          <a:xfrm>
            <a:off x="4864608" y="4535424"/>
            <a:ext cx="1691640" cy="201168"/>
          </a:xfrm>
          <a:prstGeom prst="rect">
            <a:avLst/>
          </a:prstGeom>
          <a:noFill/>
          <a:ln/>
        </p:spPr>
        <p:txBody>
          <a:bodyPr wrap="square" lIns="0" tIns="0" rIns="0" bIns="0" rtlCol="0" anchor="t"/>
          <a:lstStyle/>
          <a:p>
            <a:pPr indent="0" marL="0">
              <a:buNone/>
            </a:pPr>
            <a:r>
              <a:rPr lang="en-US" sz="800" dirty="0">
                <a:solidFill>
                  <a:srgbClr val="D3DCC8"/>
                </a:solidFill>
                <a:latin typeface="Onest" pitchFamily="34" charset="0"/>
                <a:ea typeface="Onest" pitchFamily="34" charset="-122"/>
                <a:cs typeface="Onest" pitchFamily="34" charset="-120"/>
              </a:rPr>
              <a:t>Licensed help for complex cases</a:t>
            </a:r>
            <a:endParaRPr lang="en-US" sz="800" dirty="0"/>
          </a:p>
        </p:txBody>
      </p:sp>
      <p:pic>
        <p:nvPicPr>
          <p:cNvPr id="54" name="Image 9" descr="preencoded.png">    </p:cNvPr>
          <p:cNvPicPr>
            <a:picLocks noChangeAspect="1"/>
          </p:cNvPicPr>
          <p:nvPr/>
        </p:nvPicPr>
        <p:blipFill>
          <a:blip r:embed="rId10"/>
          <a:stretch>
            <a:fillRect/>
          </a:stretch>
        </p:blipFill>
        <p:spPr>
          <a:xfrm>
            <a:off x="6629400" y="4361688"/>
            <a:ext cx="201168" cy="201168"/>
          </a:xfrm>
          <a:prstGeom prst="rect">
            <a:avLst/>
          </a:prstGeom>
        </p:spPr>
      </p:pic>
      <p:sp>
        <p:nvSpPr>
          <p:cNvPr id="55" name="Text 43"/>
          <p:cNvSpPr txBox="1"/>
          <p:nvPr/>
        </p:nvSpPr>
        <p:spPr>
          <a:xfrm>
            <a:off x="6922008" y="4334256"/>
            <a:ext cx="1691640" cy="201168"/>
          </a:xfrm>
          <a:prstGeom prst="rect">
            <a:avLst/>
          </a:prstGeom>
          <a:noFill/>
          <a:ln/>
        </p:spPr>
        <p:txBody>
          <a:bodyPr wrap="square" lIns="0" tIns="0" rIns="0" bIns="0" rtlCol="0" anchor="t"/>
          <a:lstStyle/>
          <a:p>
            <a:pPr indent="0" marL="0">
              <a:buNone/>
            </a:pPr>
            <a:r>
              <a:rPr lang="en-US" sz="900" b="1" dirty="0">
                <a:solidFill>
                  <a:srgbClr val="FFFFFF"/>
                </a:solidFill>
                <a:latin typeface="Onest" pitchFamily="34" charset="0"/>
                <a:ea typeface="Onest" pitchFamily="34" charset="-122"/>
                <a:cs typeface="Onest" pitchFamily="34" charset="-120"/>
              </a:rPr>
              <a:t>Data stored in the EU</a:t>
            </a:r>
            <a:endParaRPr lang="en-US" sz="900" dirty="0"/>
          </a:p>
        </p:txBody>
      </p:sp>
      <p:sp>
        <p:nvSpPr>
          <p:cNvPr id="56" name="Text 44"/>
          <p:cNvSpPr txBox="1"/>
          <p:nvPr/>
        </p:nvSpPr>
        <p:spPr>
          <a:xfrm>
            <a:off x="6922008" y="4535424"/>
            <a:ext cx="1691640" cy="201168"/>
          </a:xfrm>
          <a:prstGeom prst="rect">
            <a:avLst/>
          </a:prstGeom>
          <a:noFill/>
          <a:ln/>
        </p:spPr>
        <p:txBody>
          <a:bodyPr wrap="square" lIns="0" tIns="0" rIns="0" bIns="0" rtlCol="0" anchor="t"/>
          <a:lstStyle/>
          <a:p>
            <a:pPr indent="0" marL="0">
              <a:buNone/>
            </a:pPr>
            <a:r>
              <a:rPr lang="en-US" sz="800" dirty="0">
                <a:solidFill>
                  <a:srgbClr val="D3DCC8"/>
                </a:solidFill>
                <a:latin typeface="Onest" pitchFamily="34" charset="0"/>
                <a:ea typeface="Onest" pitchFamily="34" charset="-122"/>
                <a:cs typeface="Onest" pitchFamily="34" charset="-120"/>
              </a:rPr>
              <a:t>GDPR compliant</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3100A"/>
        </a:solidFill>
      </p:bgPr>
    </p:bg>
    <p:spTree>
      <p:nvGrpSpPr>
        <p:cNvPr id="1" name=""/>
        <p:cNvGrpSpPr/>
        <p:nvPr/>
      </p:nvGrpSpPr>
      <p:grpSpPr>
        <a:xfrm>
          <a:off x="0" y="0"/>
          <a:ext cx="0" cy="0"/>
          <a:chOff x="0" y="0"/>
          <a:chExt cx="0" cy="0"/>
        </a:xfrm>
      </p:grpSpPr>
      <p:pic>
        <p:nvPicPr>
          <p:cNvPr id="2" name="Image 0" descr="Unbound logo">    </p:cNvPr>
          <p:cNvPicPr>
            <a:picLocks noChangeAspect="1"/>
          </p:cNvPicPr>
          <p:nvPr/>
        </p:nvPicPr>
        <p:blipFill>
          <a:blip r:embed="rId1"/>
          <a:stretch>
            <a:fillRect/>
          </a:stretch>
        </p:blipFill>
        <p:spPr>
          <a:xfrm>
            <a:off x="457200" y="237744"/>
            <a:ext cx="329184" cy="329184"/>
          </a:xfrm>
          <a:prstGeom prst="rect">
            <a:avLst/>
          </a:prstGeom>
        </p:spPr>
      </p:pic>
      <p:sp>
        <p:nvSpPr>
          <p:cNvPr id="3" name="Text 0"/>
          <p:cNvSpPr txBox="1"/>
          <p:nvPr/>
        </p:nvSpPr>
        <p:spPr>
          <a:xfrm>
            <a:off x="859536" y="246888"/>
            <a:ext cx="1280160" cy="310896"/>
          </a:xfrm>
          <a:prstGeom prst="rect">
            <a:avLst/>
          </a:prstGeom>
          <a:noFill/>
          <a:ln/>
        </p:spPr>
        <p:txBody>
          <a:bodyPr wrap="square" lIns="0" tIns="0" rIns="0" bIns="0" rtlCol="0" anchor="ctr"/>
          <a:lstStyle/>
          <a:p>
            <a:pPr indent="0" marL="0">
              <a:buNone/>
            </a:pPr>
            <a:r>
              <a:rPr lang="en-US" sz="1500" b="1" dirty="0">
                <a:solidFill>
                  <a:srgbClr val="FFFFFF"/>
                </a:solidFill>
                <a:latin typeface="Unbounded" pitchFamily="34" charset="0"/>
                <a:ea typeface="Unbounded" pitchFamily="34" charset="-122"/>
                <a:cs typeface="Unbounded" pitchFamily="34" charset="-120"/>
              </a:rPr>
              <a:t>unbound</a:t>
            </a:r>
            <a:endParaRPr lang="en-US" sz="1500" dirty="0"/>
          </a:p>
        </p:txBody>
      </p:sp>
      <p:sp>
        <p:nvSpPr>
          <p:cNvPr id="4" name="Text 1"/>
          <p:cNvSpPr txBox="1"/>
          <p:nvPr/>
        </p:nvSpPr>
        <p:spPr>
          <a:xfrm>
            <a:off x="4709160" y="265176"/>
            <a:ext cx="960120" cy="274320"/>
          </a:xfrm>
          <a:prstGeom prst="rect">
            <a:avLst/>
          </a:prstGeom>
          <a:noFill/>
          <a:ln/>
        </p:spPr>
        <p:txBody>
          <a:bodyPr wrap="square" lIns="0" tIns="0" rIns="0" bIns="0" rtlCol="0" anchor="ctr"/>
          <a:lstStyle/>
          <a:p>
            <a:pPr algn="r" indent="0" marL="0">
              <a:buNone/>
            </a:pPr>
            <a:r>
              <a:rPr lang="en-US" sz="950" b="1" dirty="0">
                <a:solidFill>
                  <a:srgbClr val="FFFFFF"/>
                </a:solidFill>
                <a:latin typeface="Onest" pitchFamily="34" charset="0"/>
                <a:ea typeface="Onest" pitchFamily="34" charset="-122"/>
                <a:cs typeface="Onest" pitchFamily="34" charset="-120"/>
              </a:rPr>
              <a:t>For employers</a:t>
            </a:r>
            <a:endParaRPr lang="en-US" sz="950" dirty="0"/>
          </a:p>
        </p:txBody>
      </p:sp>
      <p:sp>
        <p:nvSpPr>
          <p:cNvPr id="5" name="Shape 2"/>
          <p:cNvSpPr/>
          <p:nvPr/>
        </p:nvSpPr>
        <p:spPr>
          <a:xfrm>
            <a:off x="5806440" y="246888"/>
            <a:ext cx="658368" cy="310896"/>
          </a:xfrm>
          <a:prstGeom prst="roundRect">
            <a:avLst>
              <a:gd name="adj" fmla="val 50000"/>
            </a:avLst>
          </a:prstGeom>
          <a:solidFill>
            <a:srgbClr val="03100A">
              <a:alpha val="40000"/>
            </a:srgbClr>
          </a:solidFill>
          <a:ln w="9525">
            <a:solidFill>
              <a:srgbClr val="FFFFFF">
                <a:alpha val="45000"/>
              </a:srgbClr>
            </a:solidFill>
            <a:prstDash val="solid"/>
          </a:ln>
        </p:spPr>
      </p:sp>
      <p:pic>
        <p:nvPicPr>
          <p:cNvPr id="6" name="Image 1" descr="preencoded.png">    </p:cNvPr>
          <p:cNvPicPr>
            <a:picLocks noChangeAspect="1"/>
          </p:cNvPicPr>
          <p:nvPr/>
        </p:nvPicPr>
        <p:blipFill>
          <a:blip r:embed="rId2"/>
          <a:stretch>
            <a:fillRect/>
          </a:stretch>
        </p:blipFill>
        <p:spPr>
          <a:xfrm>
            <a:off x="5907024" y="333756"/>
            <a:ext cx="192024" cy="128016"/>
          </a:xfrm>
          <a:prstGeom prst="rect">
            <a:avLst/>
          </a:prstGeom>
        </p:spPr>
      </p:pic>
      <p:sp>
        <p:nvSpPr>
          <p:cNvPr id="7" name="Text 3"/>
          <p:cNvSpPr txBox="1"/>
          <p:nvPr/>
        </p:nvSpPr>
        <p:spPr>
          <a:xfrm>
            <a:off x="6135624" y="265176"/>
            <a:ext cx="274320" cy="274320"/>
          </a:xfrm>
          <a:prstGeom prst="rect">
            <a:avLst/>
          </a:prstGeom>
          <a:noFill/>
          <a:ln/>
        </p:spPr>
        <p:txBody>
          <a:bodyPr wrap="square" lIns="0" tIns="0" rIns="0" bIns="0" rtlCol="0" anchor="ctr"/>
          <a:lstStyle/>
          <a:p>
            <a:pPr indent="0" marL="0">
              <a:buNone/>
            </a:pPr>
            <a:r>
              <a:rPr lang="en-US" sz="950" b="1" dirty="0">
                <a:solidFill>
                  <a:srgbClr val="FFFFFF"/>
                </a:solidFill>
                <a:latin typeface="Onest" pitchFamily="34" charset="0"/>
                <a:ea typeface="Onest" pitchFamily="34" charset="-122"/>
                <a:cs typeface="Onest" pitchFamily="34" charset="-120"/>
              </a:rPr>
              <a:t>EN</a:t>
            </a:r>
            <a:endParaRPr lang="en-US" sz="950" dirty="0"/>
          </a:p>
        </p:txBody>
      </p:sp>
      <p:sp>
        <p:nvSpPr>
          <p:cNvPr id="8" name="Shape 4"/>
          <p:cNvSpPr/>
          <p:nvPr/>
        </p:nvSpPr>
        <p:spPr>
          <a:xfrm>
            <a:off x="6537960" y="246888"/>
            <a:ext cx="310896" cy="310896"/>
          </a:xfrm>
          <a:prstGeom prst="ellipse">
            <a:avLst/>
          </a:prstGeom>
          <a:solidFill>
            <a:srgbClr val="03100A">
              <a:alpha val="40000"/>
            </a:srgbClr>
          </a:solidFill>
          <a:ln w="9525">
            <a:solidFill>
              <a:srgbClr val="FFFFFF">
                <a:alpha val="45000"/>
              </a:srgbClr>
            </a:solidFill>
            <a:prstDash val="solid"/>
          </a:ln>
        </p:spPr>
      </p:sp>
      <p:pic>
        <p:nvPicPr>
          <p:cNvPr id="9" name="Image 2" descr="Help">    </p:cNvPr>
          <p:cNvPicPr>
            <a:picLocks noChangeAspect="1"/>
          </p:cNvPicPr>
          <p:nvPr/>
        </p:nvPicPr>
        <p:blipFill>
          <a:blip r:embed="rId3"/>
          <a:stretch>
            <a:fillRect/>
          </a:stretch>
        </p:blipFill>
        <p:spPr>
          <a:xfrm>
            <a:off x="6601968" y="310896"/>
            <a:ext cx="182880" cy="182880"/>
          </a:xfrm>
          <a:prstGeom prst="rect">
            <a:avLst/>
          </a:prstGeom>
        </p:spPr>
      </p:pic>
      <p:pic>
        <p:nvPicPr>
          <p:cNvPr id="10" name="Image 3" descr="preencoded.png">    </p:cNvPr>
          <p:cNvPicPr>
            <a:picLocks noChangeAspect="1"/>
          </p:cNvPicPr>
          <p:nvPr/>
        </p:nvPicPr>
        <p:blipFill>
          <a:blip r:embed="rId4"/>
          <a:stretch>
            <a:fillRect/>
          </a:stretch>
        </p:blipFill>
        <p:spPr>
          <a:xfrm>
            <a:off x="6949440" y="315468"/>
            <a:ext cx="173736" cy="173736"/>
          </a:xfrm>
          <a:prstGeom prst="rect">
            <a:avLst/>
          </a:prstGeom>
        </p:spPr>
      </p:pic>
      <p:sp>
        <p:nvSpPr>
          <p:cNvPr id="11" name="Text 5"/>
          <p:cNvSpPr txBox="1"/>
          <p:nvPr/>
        </p:nvSpPr>
        <p:spPr>
          <a:xfrm>
            <a:off x="7159752" y="265176"/>
            <a:ext cx="502920" cy="274320"/>
          </a:xfrm>
          <a:prstGeom prst="rect">
            <a:avLst/>
          </a:prstGeom>
          <a:noFill/>
          <a:ln/>
        </p:spPr>
        <p:txBody>
          <a:bodyPr wrap="square" lIns="0" tIns="0" rIns="0" bIns="0" rtlCol="0" anchor="ctr"/>
          <a:lstStyle/>
          <a:p>
            <a:pPr indent="0" marL="0">
              <a:buNone/>
            </a:pPr>
            <a:r>
              <a:rPr lang="en-US" sz="950" b="1" dirty="0">
                <a:solidFill>
                  <a:srgbClr val="FFFFFF"/>
                </a:solidFill>
                <a:latin typeface="Onest" pitchFamily="34" charset="0"/>
                <a:ea typeface="Onest" pitchFamily="34" charset="-122"/>
                <a:cs typeface="Onest" pitchFamily="34" charset="-120"/>
              </a:rPr>
              <a:t>Log in</a:t>
            </a:r>
            <a:endParaRPr lang="en-US" sz="950" dirty="0"/>
          </a:p>
        </p:txBody>
      </p:sp>
      <p:sp>
        <p:nvSpPr>
          <p:cNvPr id="12" name="Text 6"/>
          <p:cNvSpPr/>
          <p:nvPr/>
        </p:nvSpPr>
        <p:spPr>
          <a:xfrm>
            <a:off x="7772400" y="237744"/>
            <a:ext cx="914400" cy="329184"/>
          </a:xfrm>
          <a:prstGeom prst="roundRect">
            <a:avLst>
              <a:gd name="adj" fmla="val 50000"/>
            </a:avLst>
          </a:prstGeom>
          <a:solidFill>
            <a:srgbClr val="B84747"/>
          </a:solidFill>
          <a:ln/>
        </p:spPr>
        <p:txBody>
          <a:bodyPr wrap="square" lIns="0" tIns="0" rIns="0" bIns="0" rtlCol="0" anchor="ctr"/>
          <a:lstStyle/>
          <a:p>
            <a:pPr algn="ctr" indent="0" marL="0">
              <a:buNone/>
            </a:pPr>
            <a:r>
              <a:rPr lang="en-US" sz="1000" b="1" dirty="0">
                <a:solidFill>
                  <a:srgbClr val="FFFFFF"/>
                </a:solidFill>
                <a:latin typeface="Onest" pitchFamily="34" charset="0"/>
                <a:ea typeface="Onest" pitchFamily="34" charset="-122"/>
                <a:cs typeface="Onest" pitchFamily="34" charset="-120"/>
              </a:rPr>
              <a:t>Sign up</a:t>
            </a:r>
            <a:endParaRPr lang="en-US" sz="1000" dirty="0"/>
          </a:p>
        </p:txBody>
      </p:sp>
      <p:sp>
        <p:nvSpPr>
          <p:cNvPr id="13" name="Shape 7"/>
          <p:cNvSpPr/>
          <p:nvPr/>
        </p:nvSpPr>
        <p:spPr>
          <a:xfrm>
            <a:off x="457200" y="868680"/>
            <a:ext cx="8229600" cy="1371600"/>
          </a:xfrm>
          <a:prstGeom prst="roundRect">
            <a:avLst>
              <a:gd name="adj" fmla="val 16000"/>
            </a:avLst>
          </a:prstGeom>
          <a:solidFill>
            <a:srgbClr val="B84747"/>
          </a:solidFill>
          <a:ln w="12700">
            <a:solidFill>
              <a:srgbClr val="B84747"/>
            </a:solidFill>
            <a:prstDash val="solid"/>
          </a:ln>
        </p:spPr>
      </p:sp>
      <p:pic>
        <p:nvPicPr>
          <p:cNvPr id="14" name="Image 4" descr="preencoded.png">    </p:cNvPr>
          <p:cNvPicPr>
            <a:picLocks noChangeAspect="1"/>
          </p:cNvPicPr>
          <p:nvPr/>
        </p:nvPicPr>
        <p:blipFill>
          <a:blip r:embed="rId5">
            <a:alphaModFix amt="16000"/>
          </a:blip>
          <a:stretch>
            <a:fillRect/>
          </a:stretch>
        </p:blipFill>
        <p:spPr>
          <a:xfrm>
            <a:off x="7452360" y="868680"/>
            <a:ext cx="1371600" cy="1371600"/>
          </a:xfrm>
          <a:prstGeom prst="rect">
            <a:avLst/>
          </a:prstGeom>
        </p:spPr>
      </p:pic>
      <p:sp>
        <p:nvSpPr>
          <p:cNvPr id="15" name="Text 8"/>
          <p:cNvSpPr txBox="1"/>
          <p:nvPr/>
        </p:nvSpPr>
        <p:spPr>
          <a:xfrm>
            <a:off x="822960" y="1078992"/>
            <a:ext cx="4572000" cy="658368"/>
          </a:xfrm>
          <a:prstGeom prst="rect">
            <a:avLst/>
          </a:prstGeom>
          <a:noFill/>
          <a:ln/>
        </p:spPr>
        <p:txBody>
          <a:bodyPr wrap="square" lIns="0" tIns="0" rIns="0" bIns="0" rtlCol="0" anchor="t"/>
          <a:lstStyle/>
          <a:p>
            <a:pPr indent="0" marL="0">
              <a:buNone/>
            </a:pPr>
            <a:r>
              <a:rPr lang="en-US" sz="1900" b="1" dirty="0">
                <a:solidFill>
                  <a:srgbClr val="FFFFFF"/>
                </a:solidFill>
                <a:latin typeface="Unbounded" pitchFamily="34" charset="0"/>
                <a:ea typeface="Unbounded" pitchFamily="34" charset="-122"/>
                <a:cs typeface="Unbounded" pitchFamily="34" charset="-120"/>
              </a:rPr>
              <a:t>Your next chapter starts with one case.</a:t>
            </a:r>
            <a:endParaRPr lang="en-US" sz="1900" dirty="0"/>
          </a:p>
        </p:txBody>
      </p:sp>
      <p:sp>
        <p:nvSpPr>
          <p:cNvPr id="16" name="Text 9"/>
          <p:cNvSpPr txBox="1"/>
          <p:nvPr/>
        </p:nvSpPr>
        <p:spPr>
          <a:xfrm>
            <a:off x="822960" y="1755648"/>
            <a:ext cx="4572000" cy="274320"/>
          </a:xfrm>
          <a:prstGeom prst="rect">
            <a:avLst/>
          </a:prstGeom>
          <a:noFill/>
          <a:ln/>
        </p:spPr>
        <p:txBody>
          <a:bodyPr wrap="square" lIns="0" tIns="0" rIns="0" bIns="0" rtlCol="0" anchor="t"/>
          <a:lstStyle/>
          <a:p>
            <a:pPr indent="0" marL="0">
              <a:buNone/>
            </a:pPr>
            <a:r>
              <a:rPr lang="en-US" sz="1000" dirty="0">
                <a:solidFill>
                  <a:srgbClr val="FBE7E7"/>
                </a:solidFill>
                <a:latin typeface="Onest" pitchFamily="34" charset="0"/>
                <a:ea typeface="Onest" pitchFamily="34" charset="-122"/>
                <a:cs typeface="Onest" pitchFamily="34" charset="-120"/>
              </a:rPr>
              <a:t>Create a free account, answer a few questions and get your personal plan today.</a:t>
            </a:r>
            <a:endParaRPr lang="en-US" sz="1000" dirty="0"/>
          </a:p>
        </p:txBody>
      </p:sp>
      <p:sp>
        <p:nvSpPr>
          <p:cNvPr id="17" name="Text 10"/>
          <p:cNvSpPr/>
          <p:nvPr/>
        </p:nvSpPr>
        <p:spPr>
          <a:xfrm>
            <a:off x="5440680" y="1353312"/>
            <a:ext cx="1508760" cy="402336"/>
          </a:xfrm>
          <a:prstGeom prst="roundRect">
            <a:avLst>
              <a:gd name="adj" fmla="val 50000"/>
            </a:avLst>
          </a:prstGeom>
          <a:solidFill>
            <a:srgbClr val="FFFFFF"/>
          </a:solidFill>
          <a:ln/>
        </p:spPr>
        <p:txBody>
          <a:bodyPr wrap="square" lIns="0" tIns="0" rIns="0" bIns="0" rtlCol="0" anchor="ctr"/>
          <a:lstStyle/>
          <a:p>
            <a:pPr algn="ctr" indent="0" marL="0">
              <a:buNone/>
            </a:pPr>
            <a:r>
              <a:rPr lang="en-US" sz="1100" b="1" dirty="0">
                <a:solidFill>
                  <a:srgbClr val="072011"/>
                </a:solidFill>
                <a:latin typeface="Onest" pitchFamily="34" charset="0"/>
                <a:ea typeface="Onest" pitchFamily="34" charset="-122"/>
                <a:cs typeface="Onest" pitchFamily="34" charset="-120"/>
              </a:rPr>
              <a:t>Create free account</a:t>
            </a:r>
            <a:endParaRPr lang="en-US" sz="1100" dirty="0"/>
          </a:p>
        </p:txBody>
      </p:sp>
      <p:sp>
        <p:nvSpPr>
          <p:cNvPr id="18" name="Text 11"/>
          <p:cNvSpPr/>
          <p:nvPr/>
        </p:nvSpPr>
        <p:spPr>
          <a:xfrm>
            <a:off x="7086600" y="1353312"/>
            <a:ext cx="1280160" cy="402336"/>
          </a:xfrm>
          <a:prstGeom prst="roundRect">
            <a:avLst>
              <a:gd name="adj" fmla="val 50000"/>
            </a:avLst>
          </a:prstGeom>
          <a:noFill/>
          <a:ln w="15875">
            <a:solidFill>
              <a:srgbClr val="FFFFFF"/>
            </a:solidFill>
          </a:ln>
        </p:spPr>
        <p:txBody>
          <a:bodyPr wrap="square" lIns="0" tIns="0" rIns="0" bIns="0" rtlCol="0" anchor="ctr"/>
          <a:lstStyle/>
          <a:p>
            <a:pPr algn="ctr" indent="0" marL="0">
              <a:buNone/>
            </a:pPr>
            <a:r>
              <a:rPr lang="en-US" sz="1000" b="1" dirty="0">
                <a:solidFill>
                  <a:srgbClr val="FFFFFF"/>
                </a:solidFill>
                <a:latin typeface="Onest" pitchFamily="34" charset="0"/>
                <a:ea typeface="Onest" pitchFamily="34" charset="-122"/>
                <a:cs typeface="Onest" pitchFamily="34" charset="-120"/>
              </a:rPr>
              <a:t>Check my options</a:t>
            </a:r>
            <a:endParaRPr lang="en-US" sz="1000" dirty="0"/>
          </a:p>
        </p:txBody>
      </p:sp>
      <p:pic>
        <p:nvPicPr>
          <p:cNvPr id="19" name="Image 5" descr="preencoded.png">    </p:cNvPr>
          <p:cNvPicPr>
            <a:picLocks noChangeAspect="1"/>
          </p:cNvPicPr>
          <p:nvPr/>
        </p:nvPicPr>
        <p:blipFill>
          <a:blip r:embed="rId6"/>
          <a:stretch>
            <a:fillRect/>
          </a:stretch>
        </p:blipFill>
        <p:spPr>
          <a:xfrm>
            <a:off x="457200" y="2560320"/>
            <a:ext cx="292608" cy="292608"/>
          </a:xfrm>
          <a:prstGeom prst="rect">
            <a:avLst/>
          </a:prstGeom>
        </p:spPr>
      </p:pic>
      <p:sp>
        <p:nvSpPr>
          <p:cNvPr id="20" name="Text 12"/>
          <p:cNvSpPr txBox="1"/>
          <p:nvPr/>
        </p:nvSpPr>
        <p:spPr>
          <a:xfrm>
            <a:off x="822960" y="2560320"/>
            <a:ext cx="1280160" cy="292608"/>
          </a:xfrm>
          <a:prstGeom prst="rect">
            <a:avLst/>
          </a:prstGeom>
          <a:noFill/>
          <a:ln/>
        </p:spPr>
        <p:txBody>
          <a:bodyPr wrap="square" lIns="0" tIns="0" rIns="0" bIns="0" rtlCol="0" anchor="ctr"/>
          <a:lstStyle/>
          <a:p>
            <a:pPr indent="0" marL="0">
              <a:buNone/>
            </a:pPr>
            <a:r>
              <a:rPr lang="en-US" sz="1300" b="1" dirty="0">
                <a:solidFill>
                  <a:srgbClr val="FFFFFF"/>
                </a:solidFill>
                <a:latin typeface="Unbounded" pitchFamily="34" charset="0"/>
                <a:ea typeface="Unbounded" pitchFamily="34" charset="-122"/>
                <a:cs typeface="Unbounded" pitchFamily="34" charset="-120"/>
              </a:rPr>
              <a:t>unbound</a:t>
            </a:r>
            <a:endParaRPr lang="en-US" sz="1300" dirty="0"/>
          </a:p>
        </p:txBody>
      </p:sp>
      <p:sp>
        <p:nvSpPr>
          <p:cNvPr id="21" name="Text 13"/>
          <p:cNvSpPr txBox="1"/>
          <p:nvPr/>
        </p:nvSpPr>
        <p:spPr>
          <a:xfrm>
            <a:off x="457200" y="2944368"/>
            <a:ext cx="2377440" cy="411480"/>
          </a:xfrm>
          <a:prstGeom prst="rect">
            <a:avLst/>
          </a:prstGeom>
          <a:noFill/>
          <a:ln/>
        </p:spPr>
        <p:txBody>
          <a:bodyPr wrap="square" lIns="0" tIns="0" rIns="0" bIns="0" rtlCol="0" anchor="t"/>
          <a:lstStyle/>
          <a:p>
            <a:pPr indent="0" marL="0">
              <a:buNone/>
            </a:pPr>
            <a:r>
              <a:rPr lang="en-US" sz="900" dirty="0">
                <a:solidFill>
                  <a:srgbClr val="C9D3BF"/>
                </a:solidFill>
                <a:latin typeface="Onest" pitchFamily="34" charset="0"/>
                <a:ea typeface="Onest" pitchFamily="34" charset="-122"/>
                <a:cs typeface="Onest" pitchFamily="34" charset="-120"/>
              </a:rPr>
              <a:t>One persistent case for your immigration journey: apply, arrive, stay, transition.</a:t>
            </a:r>
            <a:endParaRPr lang="en-US" sz="900" dirty="0"/>
          </a:p>
        </p:txBody>
      </p:sp>
      <p:sp>
        <p:nvSpPr>
          <p:cNvPr id="22" name="Shape 14"/>
          <p:cNvSpPr/>
          <p:nvPr/>
        </p:nvSpPr>
        <p:spPr>
          <a:xfrm>
            <a:off x="457200" y="3474720"/>
            <a:ext cx="1600200" cy="329184"/>
          </a:xfrm>
          <a:prstGeom prst="roundRect">
            <a:avLst>
              <a:gd name="adj" fmla="val 50000"/>
            </a:avLst>
          </a:prstGeom>
          <a:solidFill>
            <a:srgbClr val="072011"/>
          </a:solidFill>
          <a:ln w="9525">
            <a:solidFill>
              <a:srgbClr val="2F5640"/>
            </a:solidFill>
            <a:prstDash val="solid"/>
          </a:ln>
        </p:spPr>
      </p:sp>
      <p:sp>
        <p:nvSpPr>
          <p:cNvPr id="23" name="Text 15"/>
          <p:cNvSpPr txBox="1"/>
          <p:nvPr/>
        </p:nvSpPr>
        <p:spPr>
          <a:xfrm>
            <a:off x="585216" y="3474720"/>
            <a:ext cx="1463040" cy="329184"/>
          </a:xfrm>
          <a:prstGeom prst="rect">
            <a:avLst/>
          </a:prstGeom>
          <a:noFill/>
          <a:ln/>
        </p:spPr>
        <p:txBody>
          <a:bodyPr wrap="square" lIns="0" tIns="0" rIns="0" bIns="0" rtlCol="0" anchor="ctr"/>
          <a:lstStyle/>
          <a:p>
            <a:pPr indent="0" marL="0">
              <a:buNone/>
            </a:pPr>
            <a:r>
              <a:rPr lang="en-US" sz="850" dirty="0">
                <a:solidFill>
                  <a:srgbClr val="C9D3BF"/>
                </a:solidFill>
                <a:latin typeface="Onest" pitchFamily="34" charset="0"/>
                <a:ea typeface="Onest" pitchFamily="34" charset="-122"/>
                <a:cs typeface="Onest" pitchFamily="34" charset="-120"/>
              </a:rPr>
              <a:t>Rule changes, monthly</a:t>
            </a:r>
            <a:endParaRPr lang="en-US" sz="850" dirty="0"/>
          </a:p>
        </p:txBody>
      </p:sp>
      <p:sp>
        <p:nvSpPr>
          <p:cNvPr id="24" name="Text 16"/>
          <p:cNvSpPr/>
          <p:nvPr/>
        </p:nvSpPr>
        <p:spPr>
          <a:xfrm>
            <a:off x="2130552" y="3474720"/>
            <a:ext cx="777240" cy="329184"/>
          </a:xfrm>
          <a:prstGeom prst="roundRect">
            <a:avLst>
              <a:gd name="adj" fmla="val 50000"/>
            </a:avLst>
          </a:prstGeom>
          <a:solidFill>
            <a:srgbClr val="B84747"/>
          </a:solidFill>
          <a:ln/>
        </p:spPr>
        <p:txBody>
          <a:bodyPr wrap="square" lIns="0" tIns="0" rIns="0" bIns="0" rtlCol="0" anchor="ctr"/>
          <a:lstStyle/>
          <a:p>
            <a:pPr algn="ctr" indent="0" marL="0">
              <a:buNone/>
            </a:pPr>
            <a:r>
              <a:rPr lang="en-US" sz="850" b="1" dirty="0">
                <a:solidFill>
                  <a:srgbClr val="FFFFFF"/>
                </a:solidFill>
                <a:latin typeface="Onest" pitchFamily="34" charset="0"/>
                <a:ea typeface="Onest" pitchFamily="34" charset="-122"/>
                <a:cs typeface="Onest" pitchFamily="34" charset="-120"/>
              </a:rPr>
              <a:t>Subscribe</a:t>
            </a:r>
            <a:endParaRPr lang="en-US" sz="850" dirty="0"/>
          </a:p>
        </p:txBody>
      </p:sp>
      <p:sp>
        <p:nvSpPr>
          <p:cNvPr id="25" name="Shape 17"/>
          <p:cNvSpPr/>
          <p:nvPr/>
        </p:nvSpPr>
        <p:spPr>
          <a:xfrm>
            <a:off x="457200" y="3931920"/>
            <a:ext cx="1143000" cy="347472"/>
          </a:xfrm>
          <a:prstGeom prst="roundRect">
            <a:avLst>
              <a:gd name="adj" fmla="val 21053"/>
            </a:avLst>
          </a:prstGeom>
          <a:solidFill>
            <a:srgbClr val="03100A"/>
          </a:solidFill>
          <a:ln w="9525">
            <a:solidFill>
              <a:srgbClr val="2F5640"/>
            </a:solidFill>
            <a:prstDash val="solid"/>
          </a:ln>
        </p:spPr>
      </p:sp>
      <p:pic>
        <p:nvPicPr>
          <p:cNvPr id="26" name="Image 6" descr="preencoded.png">    </p:cNvPr>
          <p:cNvPicPr>
            <a:picLocks noChangeAspect="1"/>
          </p:cNvPicPr>
          <p:nvPr/>
        </p:nvPicPr>
        <p:blipFill>
          <a:blip r:embed="rId7"/>
          <a:stretch>
            <a:fillRect/>
          </a:stretch>
        </p:blipFill>
        <p:spPr>
          <a:xfrm>
            <a:off x="548640" y="4005072"/>
            <a:ext cx="201168" cy="201168"/>
          </a:xfrm>
          <a:prstGeom prst="rect">
            <a:avLst/>
          </a:prstGeom>
        </p:spPr>
      </p:pic>
      <p:sp>
        <p:nvSpPr>
          <p:cNvPr id="27" name="Text 18"/>
          <p:cNvSpPr txBox="1"/>
          <p:nvPr/>
        </p:nvSpPr>
        <p:spPr>
          <a:xfrm>
            <a:off x="804672" y="3959352"/>
            <a:ext cx="777240" cy="310896"/>
          </a:xfrm>
          <a:prstGeom prst="rect">
            <a:avLst/>
          </a:prstGeom>
          <a:noFill/>
          <a:ln/>
        </p:spPr>
        <p:txBody>
          <a:bodyPr wrap="square" lIns="0" tIns="0" rIns="0" bIns="0" rtlCol="0" anchor="ctr"/>
          <a:lstStyle/>
          <a:p>
            <a:pPr indent="0" marL="0">
              <a:buNone/>
            </a:pPr>
            <a:r>
              <a:rPr lang="en-US" sz="650" dirty="0">
                <a:solidFill>
                  <a:srgbClr val="C9D3BF"/>
                </a:solidFill>
                <a:latin typeface="Onest" pitchFamily="34" charset="0"/>
                <a:ea typeface="Onest" pitchFamily="34" charset="-122"/>
                <a:cs typeface="Onest" pitchFamily="34" charset="-120"/>
              </a:rPr>
              <a:t>Coming soon</a:t>
            </a:r>
            <a:endParaRPr lang="en-US" sz="650" dirty="0"/>
          </a:p>
          <a:p>
            <a:pPr indent="0" marL="0">
              <a:buNone/>
            </a:pPr>
            <a:r>
              <a:rPr lang="en-US" sz="850" b="1" dirty="0">
                <a:solidFill>
                  <a:srgbClr val="FFFFFF"/>
                </a:solidFill>
                <a:latin typeface="Onest" pitchFamily="34" charset="0"/>
                <a:ea typeface="Onest" pitchFamily="34" charset="-122"/>
                <a:cs typeface="Onest" pitchFamily="34" charset="-120"/>
              </a:rPr>
              <a:t>iPhone app</a:t>
            </a:r>
            <a:endParaRPr lang="en-US" sz="650" dirty="0"/>
          </a:p>
        </p:txBody>
      </p:sp>
      <p:sp>
        <p:nvSpPr>
          <p:cNvPr id="28" name="Shape 19"/>
          <p:cNvSpPr/>
          <p:nvPr/>
        </p:nvSpPr>
        <p:spPr>
          <a:xfrm>
            <a:off x="1691640" y="3931920"/>
            <a:ext cx="1143000" cy="347472"/>
          </a:xfrm>
          <a:prstGeom prst="roundRect">
            <a:avLst>
              <a:gd name="adj" fmla="val 21053"/>
            </a:avLst>
          </a:prstGeom>
          <a:solidFill>
            <a:srgbClr val="03100A"/>
          </a:solidFill>
          <a:ln w="9525">
            <a:solidFill>
              <a:srgbClr val="2F5640"/>
            </a:solidFill>
            <a:prstDash val="solid"/>
          </a:ln>
        </p:spPr>
      </p:sp>
      <p:pic>
        <p:nvPicPr>
          <p:cNvPr id="29" name="Image 7" descr="preencoded.png">    </p:cNvPr>
          <p:cNvPicPr>
            <a:picLocks noChangeAspect="1"/>
          </p:cNvPicPr>
          <p:nvPr/>
        </p:nvPicPr>
        <p:blipFill>
          <a:blip r:embed="rId8"/>
          <a:stretch>
            <a:fillRect/>
          </a:stretch>
        </p:blipFill>
        <p:spPr>
          <a:xfrm>
            <a:off x="1783080" y="4005072"/>
            <a:ext cx="201168" cy="201168"/>
          </a:xfrm>
          <a:prstGeom prst="rect">
            <a:avLst/>
          </a:prstGeom>
        </p:spPr>
      </p:pic>
      <p:sp>
        <p:nvSpPr>
          <p:cNvPr id="30" name="Text 20"/>
          <p:cNvSpPr txBox="1"/>
          <p:nvPr/>
        </p:nvSpPr>
        <p:spPr>
          <a:xfrm>
            <a:off x="2039112" y="3959352"/>
            <a:ext cx="777240" cy="310896"/>
          </a:xfrm>
          <a:prstGeom prst="rect">
            <a:avLst/>
          </a:prstGeom>
          <a:noFill/>
          <a:ln/>
        </p:spPr>
        <p:txBody>
          <a:bodyPr wrap="square" lIns="0" tIns="0" rIns="0" bIns="0" rtlCol="0" anchor="ctr"/>
          <a:lstStyle/>
          <a:p>
            <a:pPr indent="0" marL="0">
              <a:buNone/>
            </a:pPr>
            <a:r>
              <a:rPr lang="en-US" sz="650" dirty="0">
                <a:solidFill>
                  <a:srgbClr val="C9D3BF"/>
                </a:solidFill>
                <a:latin typeface="Onest" pitchFamily="34" charset="0"/>
                <a:ea typeface="Onest" pitchFamily="34" charset="-122"/>
                <a:cs typeface="Onest" pitchFamily="34" charset="-120"/>
              </a:rPr>
              <a:t>Coming soon</a:t>
            </a:r>
            <a:endParaRPr lang="en-US" sz="650" dirty="0"/>
          </a:p>
          <a:p>
            <a:pPr indent="0" marL="0">
              <a:buNone/>
            </a:pPr>
            <a:r>
              <a:rPr lang="en-US" sz="850" b="1" dirty="0">
                <a:solidFill>
                  <a:srgbClr val="FFFFFF"/>
                </a:solidFill>
                <a:latin typeface="Onest" pitchFamily="34" charset="0"/>
                <a:ea typeface="Onest" pitchFamily="34" charset="-122"/>
                <a:cs typeface="Onest" pitchFamily="34" charset="-120"/>
              </a:rPr>
              <a:t>Android app</a:t>
            </a:r>
            <a:endParaRPr lang="en-US" sz="650" dirty="0"/>
          </a:p>
        </p:txBody>
      </p:sp>
      <p:sp>
        <p:nvSpPr>
          <p:cNvPr id="31" name="Text 21"/>
          <p:cNvSpPr txBox="1"/>
          <p:nvPr/>
        </p:nvSpPr>
        <p:spPr>
          <a:xfrm>
            <a:off x="3429000" y="2606040"/>
            <a:ext cx="1280160" cy="201168"/>
          </a:xfrm>
          <a:prstGeom prst="rect">
            <a:avLst/>
          </a:prstGeom>
          <a:noFill/>
          <a:ln/>
        </p:spPr>
        <p:txBody>
          <a:bodyPr wrap="square" lIns="0" tIns="0" rIns="0" bIns="0" rtlCol="0" anchor="t"/>
          <a:lstStyle/>
          <a:p>
            <a:pPr indent="0" marL="0">
              <a:buNone/>
            </a:pPr>
            <a:r>
              <a:rPr lang="en-US" sz="800" b="1" spc="150" kern="0" dirty="0">
                <a:solidFill>
                  <a:srgbClr val="D8A9A9"/>
                </a:solidFill>
                <a:latin typeface="Onest" pitchFamily="34" charset="0"/>
                <a:ea typeface="Onest" pitchFamily="34" charset="-122"/>
                <a:cs typeface="Onest" pitchFamily="34" charset="-120"/>
              </a:rPr>
              <a:t>PRODUCT</a:t>
            </a:r>
            <a:endParaRPr lang="en-US" sz="800" dirty="0"/>
          </a:p>
        </p:txBody>
      </p:sp>
      <p:sp>
        <p:nvSpPr>
          <p:cNvPr id="32" name="Text 22"/>
          <p:cNvSpPr txBox="1"/>
          <p:nvPr/>
        </p:nvSpPr>
        <p:spPr>
          <a:xfrm>
            <a:off x="3429000" y="2880360"/>
            <a:ext cx="1280160" cy="1280160"/>
          </a:xfrm>
          <a:prstGeom prst="rect">
            <a:avLst/>
          </a:prstGeom>
          <a:noFill/>
          <a:ln/>
        </p:spPr>
        <p:txBody>
          <a:bodyPr wrap="square" lIns="0" tIns="0" rIns="0" bIns="0" rtlCol="0" anchor="t"/>
          <a:lstStyle/>
          <a:p>
            <a:pPr indent="0" marL="0">
              <a:spcAft>
                <a:spcPts val="400"/>
              </a:spcAft>
              <a:buNone/>
            </a:pPr>
            <a:r>
              <a:rPr lang="en-US" sz="900" dirty="0">
                <a:solidFill>
                  <a:srgbClr val="C9D3BF"/>
                </a:solidFill>
                <a:latin typeface="Onest" pitchFamily="34" charset="0"/>
                <a:ea typeface="Onest" pitchFamily="34" charset="-122"/>
                <a:cs typeface="Onest" pitchFamily="34" charset="-120"/>
              </a:rPr>
              <a:t>How it works</a:t>
            </a:r>
            <a:endParaRPr lang="en-US" sz="900" dirty="0"/>
          </a:p>
          <a:p>
            <a:pPr indent="0" marL="0">
              <a:spcAft>
                <a:spcPts val="400"/>
              </a:spcAft>
              <a:buNone/>
            </a:pPr>
            <a:r>
              <a:rPr lang="en-US" sz="900" dirty="0">
                <a:solidFill>
                  <a:srgbClr val="C9D3BF"/>
                </a:solidFill>
                <a:latin typeface="Onest" pitchFamily="34" charset="0"/>
                <a:ea typeface="Onest" pitchFamily="34" charset="-122"/>
                <a:cs typeface="Onest" pitchFamily="34" charset="-120"/>
              </a:rPr>
              <a:t>Check my options</a:t>
            </a:r>
            <a:endParaRPr lang="en-US" sz="900" dirty="0"/>
          </a:p>
          <a:p>
            <a:pPr indent="0" marL="0">
              <a:spcAft>
                <a:spcPts val="400"/>
              </a:spcAft>
              <a:buNone/>
            </a:pPr>
            <a:r>
              <a:rPr lang="en-US" sz="900" dirty="0">
                <a:solidFill>
                  <a:srgbClr val="C9D3BF"/>
                </a:solidFill>
                <a:latin typeface="Onest" pitchFamily="34" charset="0"/>
                <a:ea typeface="Onest" pitchFamily="34" charset="-122"/>
                <a:cs typeface="Onest" pitchFamily="34" charset="-120"/>
              </a:rPr>
              <a:t>Travel map</a:t>
            </a:r>
            <a:endParaRPr lang="en-US" sz="900" dirty="0"/>
          </a:p>
          <a:p>
            <a:pPr indent="0" marL="0">
              <a:spcAft>
                <a:spcPts val="400"/>
              </a:spcAft>
              <a:buNone/>
            </a:pPr>
            <a:r>
              <a:rPr lang="en-US" sz="900" dirty="0">
                <a:solidFill>
                  <a:srgbClr val="C9D3BF"/>
                </a:solidFill>
                <a:latin typeface="Onest" pitchFamily="34" charset="0"/>
                <a:ea typeface="Onest" pitchFamily="34" charset="-122"/>
                <a:cs typeface="Onest" pitchFamily="34" charset="-120"/>
              </a:rPr>
              <a:t>Pricing</a:t>
            </a:r>
            <a:endParaRPr lang="en-US" sz="900" dirty="0"/>
          </a:p>
          <a:p>
            <a:pPr indent="0" marL="0">
              <a:spcAft>
                <a:spcPts val="400"/>
              </a:spcAft>
              <a:buNone/>
            </a:pPr>
            <a:r>
              <a:rPr lang="en-US" sz="900" dirty="0">
                <a:solidFill>
                  <a:srgbClr val="C9D3BF"/>
                </a:solidFill>
                <a:latin typeface="Onest" pitchFamily="34" charset="0"/>
                <a:ea typeface="Onest" pitchFamily="34" charset="-122"/>
                <a:cs typeface="Onest" pitchFamily="34" charset="-120"/>
              </a:rPr>
              <a:t>For employers</a:t>
            </a:r>
            <a:endParaRPr lang="en-US" sz="900" dirty="0"/>
          </a:p>
        </p:txBody>
      </p:sp>
      <p:sp>
        <p:nvSpPr>
          <p:cNvPr id="33" name="Text 23"/>
          <p:cNvSpPr txBox="1"/>
          <p:nvPr/>
        </p:nvSpPr>
        <p:spPr>
          <a:xfrm>
            <a:off x="4773168" y="2606040"/>
            <a:ext cx="1280160" cy="201168"/>
          </a:xfrm>
          <a:prstGeom prst="rect">
            <a:avLst/>
          </a:prstGeom>
          <a:noFill/>
          <a:ln/>
        </p:spPr>
        <p:txBody>
          <a:bodyPr wrap="square" lIns="0" tIns="0" rIns="0" bIns="0" rtlCol="0" anchor="t"/>
          <a:lstStyle/>
          <a:p>
            <a:pPr indent="0" marL="0">
              <a:buNone/>
            </a:pPr>
            <a:r>
              <a:rPr lang="en-US" sz="800" b="1" spc="150" kern="0" dirty="0">
                <a:solidFill>
                  <a:srgbClr val="D8A9A9"/>
                </a:solidFill>
                <a:latin typeface="Onest" pitchFamily="34" charset="0"/>
                <a:ea typeface="Onest" pitchFamily="34" charset="-122"/>
                <a:cs typeface="Onest" pitchFamily="34" charset="-120"/>
              </a:rPr>
              <a:t>RESOURCES</a:t>
            </a:r>
            <a:endParaRPr lang="en-US" sz="800" dirty="0"/>
          </a:p>
        </p:txBody>
      </p:sp>
      <p:sp>
        <p:nvSpPr>
          <p:cNvPr id="34" name="Text 24"/>
          <p:cNvSpPr txBox="1"/>
          <p:nvPr/>
        </p:nvSpPr>
        <p:spPr>
          <a:xfrm>
            <a:off x="4773168" y="2880360"/>
            <a:ext cx="1280160" cy="1280160"/>
          </a:xfrm>
          <a:prstGeom prst="rect">
            <a:avLst/>
          </a:prstGeom>
          <a:noFill/>
          <a:ln/>
        </p:spPr>
        <p:txBody>
          <a:bodyPr wrap="square" lIns="0" tIns="0" rIns="0" bIns="0" rtlCol="0" anchor="t"/>
          <a:lstStyle/>
          <a:p>
            <a:pPr indent="0" marL="0">
              <a:spcAft>
                <a:spcPts val="400"/>
              </a:spcAft>
              <a:buNone/>
            </a:pPr>
            <a:r>
              <a:rPr lang="en-US" sz="900" dirty="0">
                <a:solidFill>
                  <a:srgbClr val="C9D3BF"/>
                </a:solidFill>
                <a:latin typeface="Onest" pitchFamily="34" charset="0"/>
                <a:ea typeface="Onest" pitchFamily="34" charset="-122"/>
                <a:cs typeface="Onest" pitchFamily="34" charset="-120"/>
              </a:rPr>
              <a:t>Help centre</a:t>
            </a:r>
            <a:endParaRPr lang="en-US" sz="900" dirty="0"/>
          </a:p>
          <a:p>
            <a:pPr indent="0" marL="0">
              <a:spcAft>
                <a:spcPts val="400"/>
              </a:spcAft>
              <a:buNone/>
            </a:pPr>
            <a:r>
              <a:rPr lang="en-US" sz="900" dirty="0">
                <a:solidFill>
                  <a:srgbClr val="C9D3BF"/>
                </a:solidFill>
                <a:latin typeface="Onest" pitchFamily="34" charset="0"/>
                <a:ea typeface="Onest" pitchFamily="34" charset="-122"/>
                <a:cs typeface="Onest" pitchFamily="34" charset="-120"/>
              </a:rPr>
              <a:t>Country guides</a:t>
            </a:r>
            <a:endParaRPr lang="en-US" sz="900" dirty="0"/>
          </a:p>
          <a:p>
            <a:pPr indent="0" marL="0">
              <a:spcAft>
                <a:spcPts val="400"/>
              </a:spcAft>
              <a:buNone/>
            </a:pPr>
            <a:r>
              <a:rPr lang="en-US" sz="900" dirty="0">
                <a:solidFill>
                  <a:srgbClr val="C9D3BF"/>
                </a:solidFill>
                <a:latin typeface="Onest" pitchFamily="34" charset="0"/>
                <a:ea typeface="Onest" pitchFamily="34" charset="-122"/>
                <a:cs typeface="Onest" pitchFamily="34" charset="-120"/>
              </a:rPr>
              <a:t>Deadline calculator</a:t>
            </a:r>
            <a:endParaRPr lang="en-US" sz="900" dirty="0"/>
          </a:p>
          <a:p>
            <a:pPr indent="0" marL="0">
              <a:spcAft>
                <a:spcPts val="400"/>
              </a:spcAft>
              <a:buNone/>
            </a:pPr>
            <a:r>
              <a:rPr lang="en-US" sz="900" dirty="0">
                <a:solidFill>
                  <a:srgbClr val="C9D3BF"/>
                </a:solidFill>
                <a:latin typeface="Onest" pitchFamily="34" charset="0"/>
                <a:ea typeface="Onest" pitchFamily="34" charset="-122"/>
                <a:cs typeface="Onest" pitchFamily="34" charset="-120"/>
              </a:rPr>
              <a:t>Blog</a:t>
            </a:r>
            <a:endParaRPr lang="en-US" sz="900" dirty="0"/>
          </a:p>
        </p:txBody>
      </p:sp>
      <p:sp>
        <p:nvSpPr>
          <p:cNvPr id="35" name="Text 25"/>
          <p:cNvSpPr txBox="1"/>
          <p:nvPr/>
        </p:nvSpPr>
        <p:spPr>
          <a:xfrm>
            <a:off x="6117336" y="2606040"/>
            <a:ext cx="1280160" cy="201168"/>
          </a:xfrm>
          <a:prstGeom prst="rect">
            <a:avLst/>
          </a:prstGeom>
          <a:noFill/>
          <a:ln/>
        </p:spPr>
        <p:txBody>
          <a:bodyPr wrap="square" lIns="0" tIns="0" rIns="0" bIns="0" rtlCol="0" anchor="t"/>
          <a:lstStyle/>
          <a:p>
            <a:pPr indent="0" marL="0">
              <a:buNone/>
            </a:pPr>
            <a:r>
              <a:rPr lang="en-US" sz="800" b="1" spc="150" kern="0" dirty="0">
                <a:solidFill>
                  <a:srgbClr val="D8A9A9"/>
                </a:solidFill>
                <a:latin typeface="Onest" pitchFamily="34" charset="0"/>
                <a:ea typeface="Onest" pitchFamily="34" charset="-122"/>
                <a:cs typeface="Onest" pitchFamily="34" charset="-120"/>
              </a:rPr>
              <a:t>COMPANY</a:t>
            </a:r>
            <a:endParaRPr lang="en-US" sz="800" dirty="0"/>
          </a:p>
        </p:txBody>
      </p:sp>
      <p:sp>
        <p:nvSpPr>
          <p:cNvPr id="36" name="Text 26"/>
          <p:cNvSpPr txBox="1"/>
          <p:nvPr/>
        </p:nvSpPr>
        <p:spPr>
          <a:xfrm>
            <a:off x="6117336" y="2880360"/>
            <a:ext cx="1280160" cy="1280160"/>
          </a:xfrm>
          <a:prstGeom prst="rect">
            <a:avLst/>
          </a:prstGeom>
          <a:noFill/>
          <a:ln/>
        </p:spPr>
        <p:txBody>
          <a:bodyPr wrap="square" lIns="0" tIns="0" rIns="0" bIns="0" rtlCol="0" anchor="t"/>
          <a:lstStyle/>
          <a:p>
            <a:pPr indent="0" marL="0">
              <a:spcAft>
                <a:spcPts val="400"/>
              </a:spcAft>
              <a:buNone/>
            </a:pPr>
            <a:r>
              <a:rPr lang="en-US" sz="900" dirty="0">
                <a:solidFill>
                  <a:srgbClr val="C9D3BF"/>
                </a:solidFill>
                <a:latin typeface="Onest" pitchFamily="34" charset="0"/>
                <a:ea typeface="Onest" pitchFamily="34" charset="-122"/>
                <a:cs typeface="Onest" pitchFamily="34" charset="-120"/>
              </a:rPr>
              <a:t>About us</a:t>
            </a:r>
            <a:endParaRPr lang="en-US" sz="900" dirty="0"/>
          </a:p>
          <a:p>
            <a:pPr indent="0" marL="0">
              <a:spcAft>
                <a:spcPts val="400"/>
              </a:spcAft>
              <a:buNone/>
            </a:pPr>
            <a:r>
              <a:rPr lang="en-US" sz="900" dirty="0">
                <a:solidFill>
                  <a:srgbClr val="C9D3BF"/>
                </a:solidFill>
                <a:latin typeface="Onest" pitchFamily="34" charset="0"/>
                <a:ea typeface="Onest" pitchFamily="34" charset="-122"/>
                <a:cs typeface="Onest" pitchFamily="34" charset="-120"/>
              </a:rPr>
              <a:t>Careers</a:t>
            </a:r>
            <a:endParaRPr lang="en-US" sz="900" dirty="0"/>
          </a:p>
          <a:p>
            <a:pPr indent="0" marL="0">
              <a:spcAft>
                <a:spcPts val="400"/>
              </a:spcAft>
              <a:buNone/>
            </a:pPr>
            <a:r>
              <a:rPr lang="en-US" sz="900" dirty="0">
                <a:solidFill>
                  <a:srgbClr val="C9D3BF"/>
                </a:solidFill>
                <a:latin typeface="Onest" pitchFamily="34" charset="0"/>
                <a:ea typeface="Onest" pitchFamily="34" charset="-122"/>
                <a:cs typeface="Onest" pitchFamily="34" charset="-120"/>
              </a:rPr>
              <a:t>Partners</a:t>
            </a:r>
            <a:endParaRPr lang="en-US" sz="900" dirty="0"/>
          </a:p>
          <a:p>
            <a:pPr indent="0" marL="0">
              <a:spcAft>
                <a:spcPts val="400"/>
              </a:spcAft>
              <a:buNone/>
            </a:pPr>
            <a:r>
              <a:rPr lang="en-US" sz="900" dirty="0">
                <a:solidFill>
                  <a:srgbClr val="C9D3BF"/>
                </a:solidFill>
                <a:latin typeface="Onest" pitchFamily="34" charset="0"/>
                <a:ea typeface="Onest" pitchFamily="34" charset="-122"/>
                <a:cs typeface="Onest" pitchFamily="34" charset="-120"/>
              </a:rPr>
              <a:t>Contact</a:t>
            </a:r>
            <a:endParaRPr lang="en-US" sz="900" dirty="0"/>
          </a:p>
        </p:txBody>
      </p:sp>
      <p:sp>
        <p:nvSpPr>
          <p:cNvPr id="37" name="Text 27"/>
          <p:cNvSpPr txBox="1"/>
          <p:nvPr/>
        </p:nvSpPr>
        <p:spPr>
          <a:xfrm>
            <a:off x="7461504" y="2606040"/>
            <a:ext cx="1280160" cy="201168"/>
          </a:xfrm>
          <a:prstGeom prst="rect">
            <a:avLst/>
          </a:prstGeom>
          <a:noFill/>
          <a:ln/>
        </p:spPr>
        <p:txBody>
          <a:bodyPr wrap="square" lIns="0" tIns="0" rIns="0" bIns="0" rtlCol="0" anchor="t"/>
          <a:lstStyle/>
          <a:p>
            <a:pPr indent="0" marL="0">
              <a:buNone/>
            </a:pPr>
            <a:r>
              <a:rPr lang="en-US" sz="800" b="1" spc="150" kern="0" dirty="0">
                <a:solidFill>
                  <a:srgbClr val="D8A9A9"/>
                </a:solidFill>
                <a:latin typeface="Onest" pitchFamily="34" charset="0"/>
                <a:ea typeface="Onest" pitchFamily="34" charset="-122"/>
                <a:cs typeface="Onest" pitchFamily="34" charset="-120"/>
              </a:rPr>
              <a:t>LEGAL</a:t>
            </a:r>
            <a:endParaRPr lang="en-US" sz="800" dirty="0"/>
          </a:p>
        </p:txBody>
      </p:sp>
      <p:sp>
        <p:nvSpPr>
          <p:cNvPr id="38" name="Text 28"/>
          <p:cNvSpPr txBox="1"/>
          <p:nvPr/>
        </p:nvSpPr>
        <p:spPr>
          <a:xfrm>
            <a:off x="7461504" y="2880360"/>
            <a:ext cx="1280160" cy="1280160"/>
          </a:xfrm>
          <a:prstGeom prst="rect">
            <a:avLst/>
          </a:prstGeom>
          <a:noFill/>
          <a:ln/>
        </p:spPr>
        <p:txBody>
          <a:bodyPr wrap="square" lIns="0" tIns="0" rIns="0" bIns="0" rtlCol="0" anchor="t"/>
          <a:lstStyle/>
          <a:p>
            <a:pPr indent="0" marL="0">
              <a:spcAft>
                <a:spcPts val="400"/>
              </a:spcAft>
              <a:buNone/>
            </a:pPr>
            <a:r>
              <a:rPr lang="en-US" sz="900" dirty="0">
                <a:solidFill>
                  <a:srgbClr val="C9D3BF"/>
                </a:solidFill>
                <a:latin typeface="Onest" pitchFamily="34" charset="0"/>
                <a:ea typeface="Onest" pitchFamily="34" charset="-122"/>
                <a:cs typeface="Onest" pitchFamily="34" charset="-120"/>
              </a:rPr>
              <a:t>Privacy</a:t>
            </a:r>
            <a:endParaRPr lang="en-US" sz="900" dirty="0"/>
          </a:p>
          <a:p>
            <a:pPr indent="0" marL="0">
              <a:spcAft>
                <a:spcPts val="400"/>
              </a:spcAft>
              <a:buNone/>
            </a:pPr>
            <a:r>
              <a:rPr lang="en-US" sz="900" dirty="0">
                <a:solidFill>
                  <a:srgbClr val="C9D3BF"/>
                </a:solidFill>
                <a:latin typeface="Onest" pitchFamily="34" charset="0"/>
                <a:ea typeface="Onest" pitchFamily="34" charset="-122"/>
                <a:cs typeface="Onest" pitchFamily="34" charset="-120"/>
              </a:rPr>
              <a:t>Terms</a:t>
            </a:r>
            <a:endParaRPr lang="en-US" sz="900" dirty="0"/>
          </a:p>
          <a:p>
            <a:pPr indent="0" marL="0">
              <a:spcAft>
                <a:spcPts val="400"/>
              </a:spcAft>
              <a:buNone/>
            </a:pPr>
            <a:r>
              <a:rPr lang="en-US" sz="900" dirty="0">
                <a:solidFill>
                  <a:srgbClr val="C9D3BF"/>
                </a:solidFill>
                <a:latin typeface="Onest" pitchFamily="34" charset="0"/>
                <a:ea typeface="Onest" pitchFamily="34" charset="-122"/>
                <a:cs typeface="Onest" pitchFamily="34" charset="-120"/>
              </a:rPr>
              <a:t>Cookies</a:t>
            </a:r>
            <a:endParaRPr lang="en-US" sz="900" dirty="0"/>
          </a:p>
          <a:p>
            <a:pPr indent="0" marL="0">
              <a:spcAft>
                <a:spcPts val="400"/>
              </a:spcAft>
              <a:buNone/>
            </a:pPr>
            <a:r>
              <a:rPr lang="en-US" sz="900" dirty="0">
                <a:solidFill>
                  <a:srgbClr val="C9D3BF"/>
                </a:solidFill>
                <a:latin typeface="Onest" pitchFamily="34" charset="0"/>
                <a:ea typeface="Onest" pitchFamily="34" charset="-122"/>
                <a:cs typeface="Onest" pitchFamily="34" charset="-120"/>
              </a:rPr>
              <a:t>Accessibility</a:t>
            </a:r>
            <a:endParaRPr lang="en-US" sz="900" dirty="0"/>
          </a:p>
        </p:txBody>
      </p:sp>
      <p:sp>
        <p:nvSpPr>
          <p:cNvPr id="39" name="Shape 29"/>
          <p:cNvSpPr/>
          <p:nvPr/>
        </p:nvSpPr>
        <p:spPr>
          <a:xfrm>
            <a:off x="457200" y="4480560"/>
            <a:ext cx="8229600" cy="0"/>
          </a:xfrm>
          <a:prstGeom prst="line">
            <a:avLst/>
          </a:prstGeom>
          <a:noFill/>
          <a:ln w="9525">
            <a:solidFill>
              <a:srgbClr val="123A22"/>
            </a:solidFill>
            <a:prstDash val="solid"/>
          </a:ln>
        </p:spPr>
      </p:sp>
      <p:sp>
        <p:nvSpPr>
          <p:cNvPr id="40" name="Text 30"/>
          <p:cNvSpPr txBox="1"/>
          <p:nvPr/>
        </p:nvSpPr>
        <p:spPr>
          <a:xfrm>
            <a:off x="457200" y="4617720"/>
            <a:ext cx="1828800" cy="228600"/>
          </a:xfrm>
          <a:prstGeom prst="rect">
            <a:avLst/>
          </a:prstGeom>
          <a:noFill/>
          <a:ln/>
        </p:spPr>
        <p:txBody>
          <a:bodyPr wrap="square" lIns="0" tIns="0" rIns="0" bIns="0" rtlCol="0" anchor="ctr"/>
          <a:lstStyle/>
          <a:p>
            <a:pPr indent="0" marL="0">
              <a:buNone/>
            </a:pPr>
            <a:r>
              <a:rPr lang="en-US" sz="800" dirty="0">
                <a:solidFill>
                  <a:srgbClr val="C9D3BF"/>
                </a:solidFill>
                <a:latin typeface="Onest" pitchFamily="34" charset="0"/>
                <a:ea typeface="Onest" pitchFamily="34" charset="-122"/>
                <a:cs typeface="Onest" pitchFamily="34" charset="-120"/>
              </a:rPr>
              <a:t>© 2026 Unbound · Budapest</a:t>
            </a:r>
            <a:endParaRPr lang="en-US" sz="800" dirty="0"/>
          </a:p>
        </p:txBody>
      </p:sp>
      <p:sp>
        <p:nvSpPr>
          <p:cNvPr id="41" name="Text 31"/>
          <p:cNvSpPr txBox="1"/>
          <p:nvPr/>
        </p:nvSpPr>
        <p:spPr>
          <a:xfrm>
            <a:off x="2468880" y="4617720"/>
            <a:ext cx="4572000" cy="228600"/>
          </a:xfrm>
          <a:prstGeom prst="rect">
            <a:avLst/>
          </a:prstGeom>
          <a:noFill/>
          <a:ln/>
        </p:spPr>
        <p:txBody>
          <a:bodyPr wrap="square" lIns="0" tIns="0" rIns="0" bIns="0" rtlCol="0" anchor="ctr"/>
          <a:lstStyle/>
          <a:p>
            <a:pPr indent="0" marL="0">
              <a:buNone/>
            </a:pPr>
            <a:r>
              <a:rPr lang="en-US" sz="800" dirty="0">
                <a:solidFill>
                  <a:srgbClr val="C9D3BF"/>
                </a:solidFill>
                <a:latin typeface="Onest" pitchFamily="34" charset="0"/>
                <a:ea typeface="Onest" pitchFamily="34" charset="-122"/>
                <a:cs typeface="Onest" pitchFamily="34" charset="-120"/>
              </a:rPr>
              <a:t>Unbound is not a law firm. Information is guidance only; for legal advice, book a licensed adviser.</a:t>
            </a:r>
            <a:endParaRPr lang="en-US" sz="800" dirty="0"/>
          </a:p>
        </p:txBody>
      </p:sp>
      <p:sp>
        <p:nvSpPr>
          <p:cNvPr id="42" name="Text 32"/>
          <p:cNvSpPr/>
          <p:nvPr/>
        </p:nvSpPr>
        <p:spPr>
          <a:xfrm>
            <a:off x="7772400" y="4590288"/>
            <a:ext cx="274320" cy="274320"/>
          </a:xfrm>
          <a:prstGeom prst="ellipse">
            <a:avLst/>
          </a:prstGeom>
          <a:noFill/>
          <a:ln w="9525">
            <a:solidFill>
              <a:srgbClr val="2F5640"/>
            </a:solidFill>
          </a:ln>
        </p:spPr>
        <p:txBody>
          <a:bodyPr wrap="square" lIns="0" tIns="0" rIns="0" bIns="0" rtlCol="0" anchor="ctr"/>
          <a:lstStyle/>
          <a:p>
            <a:pPr algn="ctr" indent="0" marL="0">
              <a:buNone/>
            </a:pPr>
            <a:r>
              <a:rPr lang="en-US" sz="800" b="1" dirty="0">
                <a:solidFill>
                  <a:srgbClr val="FFFFFF"/>
                </a:solidFill>
                <a:latin typeface="Onest" pitchFamily="34" charset="0"/>
                <a:ea typeface="Onest" pitchFamily="34" charset="-122"/>
                <a:cs typeface="Onest" pitchFamily="34" charset="-120"/>
              </a:rPr>
              <a:t>in</a:t>
            </a:r>
            <a:endParaRPr lang="en-US" sz="800" dirty="0"/>
          </a:p>
        </p:txBody>
      </p:sp>
      <p:sp>
        <p:nvSpPr>
          <p:cNvPr id="43" name="Text 33"/>
          <p:cNvSpPr/>
          <p:nvPr/>
        </p:nvSpPr>
        <p:spPr>
          <a:xfrm>
            <a:off x="8101584" y="4590288"/>
            <a:ext cx="274320" cy="274320"/>
          </a:xfrm>
          <a:prstGeom prst="ellipse">
            <a:avLst/>
          </a:prstGeom>
          <a:noFill/>
          <a:ln w="9525">
            <a:solidFill>
              <a:srgbClr val="2F5640"/>
            </a:solidFill>
          </a:ln>
        </p:spPr>
        <p:txBody>
          <a:bodyPr wrap="square" lIns="0" tIns="0" rIns="0" bIns="0" rtlCol="0" anchor="ctr"/>
          <a:lstStyle/>
          <a:p>
            <a:pPr algn="ctr" indent="0" marL="0">
              <a:buNone/>
            </a:pPr>
            <a:r>
              <a:rPr lang="en-US" sz="800" b="1" dirty="0">
                <a:solidFill>
                  <a:srgbClr val="FFFFFF"/>
                </a:solidFill>
                <a:latin typeface="Onest" pitchFamily="34" charset="0"/>
                <a:ea typeface="Onest" pitchFamily="34" charset="-122"/>
                <a:cs typeface="Onest" pitchFamily="34" charset="-120"/>
              </a:rPr>
              <a:t>ig</a:t>
            </a:r>
            <a:endParaRPr lang="en-US" sz="800" dirty="0"/>
          </a:p>
        </p:txBody>
      </p:sp>
      <p:sp>
        <p:nvSpPr>
          <p:cNvPr id="44" name="Text 34"/>
          <p:cNvSpPr/>
          <p:nvPr/>
        </p:nvSpPr>
        <p:spPr>
          <a:xfrm>
            <a:off x="8430768" y="4590288"/>
            <a:ext cx="274320" cy="274320"/>
          </a:xfrm>
          <a:prstGeom prst="ellipse">
            <a:avLst/>
          </a:prstGeom>
          <a:noFill/>
          <a:ln w="9525">
            <a:solidFill>
              <a:srgbClr val="2F5640"/>
            </a:solidFill>
          </a:ln>
        </p:spPr>
        <p:txBody>
          <a:bodyPr wrap="square" lIns="0" tIns="0" rIns="0" bIns="0" rtlCol="0" anchor="ctr"/>
          <a:lstStyle/>
          <a:p>
            <a:pPr algn="ctr" indent="0" marL="0">
              <a:buNone/>
            </a:pPr>
            <a:r>
              <a:rPr lang="en-US" sz="800" b="1" dirty="0">
                <a:solidFill>
                  <a:srgbClr val="FFFFFF"/>
                </a:solidFill>
                <a:latin typeface="Onest" pitchFamily="34" charset="0"/>
                <a:ea typeface="Onest" pitchFamily="34" charset="-122"/>
                <a:cs typeface="Onest" pitchFamily="34" charset="-120"/>
              </a:rPr>
              <a:t>tt</a:t>
            </a:r>
            <a:endParaRPr lang="en-US" sz="800" dirty="0"/>
          </a:p>
        </p:txBody>
      </p:sp>
    </p:spTree>
  </p:cSld>
  <p:clrMapOvr>
    <a:masterClrMapping/>
  </p:clrMapOvr>
</p:sld>
</file>

<file path=ppt/theme/theme1.xml><?xml version="1.0" encoding="utf-8"?>
<a:theme xmlns:a="http://schemas.openxmlformats.org/drawingml/2006/main" name="Unbound">
  <a:themeElements>
    <a:clrScheme name="Unbound">
      <a:dk1>
        <a:srgbClr val="03100A"/>
      </a:dk1>
      <a:lt1>
        <a:srgbClr val="FFFFFF"/>
      </a:lt1>
      <a:dk2>
        <a:srgbClr val="072011"/>
      </a:dk2>
      <a:lt2>
        <a:srgbClr val="D8A9A9"/>
      </a:lt2>
      <a:accent1>
        <a:srgbClr val="072011"/>
      </a:accent1>
      <a:accent2>
        <a:srgbClr val="B84747"/>
      </a:accent2>
      <a:accent3>
        <a:srgbClr val="D8A9A9"/>
      </a:accent3>
      <a:accent4>
        <a:srgbClr val="2F5640"/>
      </a:accent4>
      <a:accent5>
        <a:srgbClr val="5A2E2E"/>
      </a:accent5>
      <a:accent6>
        <a:srgbClr val="123A22"/>
      </a:accent6>
      <a:hlink>
        <a:srgbClr val="B84747"/>
      </a:hlink>
      <a:folHlink>
        <a:srgbClr val="2F5640"/>
      </a:folHlink>
    </a:clrScheme>
    <a:fontScheme name="Unbound">
      <a:majorFont>
        <a:latin typeface="Unbounde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Ones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Unbound home page</dc:title>
  <dc:subject>PptxGenJS Presentation</dc:subject>
  <dc:creator>Unbound</dc:creator>
  <cp:lastModifiedBy>Unbound</cp:lastModifiedBy>
  <cp:revision>1</cp:revision>
  <dcterms:created xsi:type="dcterms:W3CDTF">2026-10-17T01:01:07Z</dcterms:created>
  <dcterms:modified xsi:type="dcterms:W3CDTF">2026-10-17T01:01:07Z</dcterms:modified>
</cp:coreProperties>
</file>